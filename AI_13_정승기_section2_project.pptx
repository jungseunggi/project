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2"/>
  </p:notesMasterIdLst>
  <p:sldIdLst>
    <p:sldId id="256" r:id="rId2"/>
    <p:sldId id="305" r:id="rId3"/>
    <p:sldId id="356" r:id="rId4"/>
    <p:sldId id="373" r:id="rId5"/>
    <p:sldId id="374" r:id="rId6"/>
    <p:sldId id="381" r:id="rId7"/>
    <p:sldId id="382" r:id="rId8"/>
    <p:sldId id="358" r:id="rId9"/>
    <p:sldId id="375" r:id="rId10"/>
    <p:sldId id="376" r:id="rId11"/>
    <p:sldId id="378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2" r:id="rId20"/>
    <p:sldId id="390" r:id="rId21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4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orient="horz" pos="1111" userDrawn="1">
          <p15:clr>
            <a:srgbClr val="A4A3A4"/>
          </p15:clr>
        </p15:guide>
        <p15:guide id="4" pos="759" userDrawn="1">
          <p15:clr>
            <a:srgbClr val="A4A3A4"/>
          </p15:clr>
        </p15:guide>
        <p15:guide id="5" orient="horz" pos="608" userDrawn="1">
          <p15:clr>
            <a:srgbClr val="A4A3A4"/>
          </p15:clr>
        </p15:guide>
        <p15:guide id="6" orient="horz" pos="4105" userDrawn="1">
          <p15:clr>
            <a:srgbClr val="A4A3A4"/>
          </p15:clr>
        </p15:guide>
        <p15:guide id="7" pos="6543" userDrawn="1">
          <p15:clr>
            <a:srgbClr val="A4A3A4"/>
          </p15:clr>
        </p15:guide>
        <p15:guide id="8" pos="192" userDrawn="1">
          <p15:clr>
            <a:srgbClr val="A4A3A4"/>
          </p15:clr>
        </p15:guide>
        <p15:guide id="9" pos="40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C4DA2"/>
    <a:srgbClr val="4472C4"/>
    <a:srgbClr val="20BAF2"/>
    <a:srgbClr val="949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526" y="720"/>
      </p:cViewPr>
      <p:guideLst>
        <p:guide orient="horz" pos="2404"/>
        <p:guide pos="3368"/>
        <p:guide orient="horz" pos="1111"/>
        <p:guide pos="759"/>
        <p:guide orient="horz" pos="608"/>
        <p:guide orient="horz" pos="4105"/>
        <p:guide pos="6543"/>
        <p:guide pos="192"/>
        <p:guide pos="40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BD5FA-6200-486F-8274-959CAC49DCB1}" type="datetimeFigureOut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1ACB-5294-4251-8CDD-F50F09CC8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74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D670-237F-476E-B943-CAE0C2B42FFA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25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402AA-B95A-4DEA-8A45-AF2730BE53AB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43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471C-10ED-4BEB-8E9E-99A7C3AF25C4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215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EC56-8A73-4735-9C66-5B903138C1DB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07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A91F-E418-4B0D-A320-ADAD292DE0F2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66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CBE5-E0DC-4437-8B06-2922EB65BFE4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73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2F1B-C617-4A0D-ABDB-46B01390390F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0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2F27-BDC4-4345-9C1F-DA94F8C0C915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925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2D8-13F9-48B3-83E7-C07EE09CC78B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98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33AF3-7EE0-4F2F-A30B-2C09D0DAF077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60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AC21-9914-4B01-8A0A-147B7BD3F57C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8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52DB1-600E-4D50-B8DE-A7AD3F211411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45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코드스테이츠 기업, 채용, 투자, 뉴스">
            <a:extLst>
              <a:ext uri="{FF2B5EF4-FFF2-40B4-BE49-F238E27FC236}">
                <a16:creationId xmlns:a16="http://schemas.microsoft.com/office/drawing/2014/main" id="{9AD167E0-C772-4000-871B-D47ACD4824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3" t="37406" r="10107" b="39261"/>
          <a:stretch/>
        </p:blipFill>
        <p:spPr bwMode="auto">
          <a:xfrm>
            <a:off x="8420100" y="6655553"/>
            <a:ext cx="2145598" cy="64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4F7E674-D989-4933-840F-AA87917FFBA4}"/>
              </a:ext>
            </a:extLst>
          </p:cNvPr>
          <p:cNvSpPr/>
          <p:nvPr/>
        </p:nvSpPr>
        <p:spPr>
          <a:xfrm>
            <a:off x="1242488" y="4284687"/>
            <a:ext cx="9144772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2022.05</a:t>
            </a:r>
            <a:endParaRPr lang="ko-KR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D6B5BDDC-764E-43B6-A110-4C420E322ECB}"/>
              </a:ext>
            </a:extLst>
          </p:cNvPr>
          <p:cNvSpPr/>
          <p:nvPr/>
        </p:nvSpPr>
        <p:spPr>
          <a:xfrm rot="20617660">
            <a:off x="2036534" y="-1100745"/>
            <a:ext cx="10302738" cy="6676926"/>
          </a:xfrm>
          <a:prstGeom prst="roundRect">
            <a:avLst>
              <a:gd name="adj" fmla="val 6818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모서리가 둥근 직사각형 9">
            <a:extLst>
              <a:ext uri="{FF2B5EF4-FFF2-40B4-BE49-F238E27FC236}">
                <a16:creationId xmlns:a16="http://schemas.microsoft.com/office/drawing/2014/main" id="{F537F128-523D-49E5-A188-1D5553C44BD9}"/>
              </a:ext>
            </a:extLst>
          </p:cNvPr>
          <p:cNvSpPr/>
          <p:nvPr/>
        </p:nvSpPr>
        <p:spPr>
          <a:xfrm rot="359726">
            <a:off x="-3896990" y="3772690"/>
            <a:ext cx="8406108" cy="5447771"/>
          </a:xfrm>
          <a:prstGeom prst="roundRect">
            <a:avLst>
              <a:gd name="adj" fmla="val 6818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FC2FEA-A5FB-42B1-BF5D-056E47A1DA97}"/>
              </a:ext>
            </a:extLst>
          </p:cNvPr>
          <p:cNvSpPr/>
          <p:nvPr/>
        </p:nvSpPr>
        <p:spPr>
          <a:xfrm>
            <a:off x="4895602" y="2727383"/>
            <a:ext cx="547260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30000"/>
              </a:lnSpc>
            </a:pPr>
            <a:r>
              <a:rPr lang="ko-KR" altLang="en-US" sz="28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분석을 통한 </a:t>
            </a:r>
            <a:r>
              <a:rPr lang="ko-KR" altLang="en-US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창업 전망 예측</a:t>
            </a:r>
            <a:endParaRPr lang="ko-KR" altLang="en-US" sz="28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8F760E-56C6-43F3-BB1E-B0A4D10486A3}"/>
              </a:ext>
            </a:extLst>
          </p:cNvPr>
          <p:cNvSpPr/>
          <p:nvPr/>
        </p:nvSpPr>
        <p:spPr>
          <a:xfrm>
            <a:off x="7290916" y="3627483"/>
            <a:ext cx="1296144" cy="492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9DB63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1D9D73-7324-48A0-928A-1E70218502DD}"/>
              </a:ext>
            </a:extLst>
          </p:cNvPr>
          <p:cNvSpPr/>
          <p:nvPr/>
        </p:nvSpPr>
        <p:spPr>
          <a:xfrm>
            <a:off x="4895602" y="3220082"/>
            <a:ext cx="547260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30000"/>
              </a:lnSpc>
            </a:pPr>
            <a:r>
              <a:rPr lang="en-US" altLang="ko-KR" sz="2800" b="1" dirty="0">
                <a:solidFill>
                  <a:srgbClr val="949494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Project 2</a:t>
            </a:r>
            <a:endParaRPr lang="ko-KR" altLang="en-US" sz="2800" b="1" dirty="0">
              <a:solidFill>
                <a:srgbClr val="949494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79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2283"/>
            <a:ext cx="10691812" cy="756195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426200" y="1856328"/>
            <a:ext cx="3141574" cy="27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Dataset</a:t>
            </a:r>
            <a:endParaRPr lang="ko-KR" altLang="en-US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38362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    차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818502" y="684143"/>
            <a:ext cx="7846977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Contents</a:t>
            </a:r>
            <a:endParaRPr lang="ko-KR" altLang="en-US" sz="1500" b="1" dirty="0">
              <a:solidFill>
                <a:schemeClr val="bg1">
                  <a:lumMod val="7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78A7A0B-4BEB-4799-8B2D-EE232B61713D}"/>
              </a:ext>
            </a:extLst>
          </p:cNvPr>
          <p:cNvSpPr/>
          <p:nvPr/>
        </p:nvSpPr>
        <p:spPr>
          <a:xfrm>
            <a:off x="6426200" y="2993396"/>
            <a:ext cx="3960813" cy="27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en-US" altLang="ko-KR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Datat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Wrangling &amp; EDA</a:t>
            </a:r>
            <a:endParaRPr lang="ko-KR" altLang="en-US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D170D49-9B21-41EC-9AB4-4C079142DC42}"/>
              </a:ext>
            </a:extLst>
          </p:cNvPr>
          <p:cNvSpPr/>
          <p:nvPr/>
        </p:nvSpPr>
        <p:spPr>
          <a:xfrm>
            <a:off x="6426200" y="4293763"/>
            <a:ext cx="3710114" cy="27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Modeling</a:t>
            </a:r>
            <a:endParaRPr lang="ko-KR" altLang="en-US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D1DF9E5-0D1F-4D2F-A50E-0B43845AA34C}"/>
              </a:ext>
            </a:extLst>
          </p:cNvPr>
          <p:cNvSpPr/>
          <p:nvPr/>
        </p:nvSpPr>
        <p:spPr>
          <a:xfrm>
            <a:off x="6419851" y="5430831"/>
            <a:ext cx="3710114" cy="272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해석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28CA0B-280E-4A37-9061-84C4674D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34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58" y="1764160"/>
            <a:ext cx="10690497" cy="461161"/>
          </a:xfrm>
          <a:prstGeom prst="rect">
            <a:avLst/>
          </a:prstGeom>
          <a:solidFill>
            <a:srgbClr val="BAC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59" y="-2050"/>
            <a:ext cx="1231861" cy="973569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563" y="588543"/>
            <a:ext cx="914229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Dataset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680" y="472560"/>
            <a:ext cx="5615101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1.1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 적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235544" y="2412057"/>
            <a:ext cx="5335726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1.2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 크기</a:t>
            </a:r>
          </a:p>
        </p:txBody>
      </p:sp>
      <p:sp>
        <p:nvSpPr>
          <p:cNvPr id="75" name="Rectangle 52">
            <a:extLst>
              <a:ext uri="{FF2B5EF4-FFF2-40B4-BE49-F238E27FC236}">
                <a16:creationId xmlns:a16="http://schemas.microsoft.com/office/drawing/2014/main" id="{75A32318-8ABF-44F2-95A1-5CBDDFE7F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46" y="1908137"/>
            <a:ext cx="9646207" cy="234044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>
              <a:lnSpc>
                <a:spcPts val="1600"/>
              </a:lnSpc>
              <a:spcBef>
                <a:spcPct val="20000"/>
              </a:spcBef>
            </a:pPr>
            <a:r>
              <a:rPr lang="ko-KR" altLang="en-US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데이터를 통하여 창업 시 전망 예측</a:t>
            </a:r>
            <a:endParaRPr lang="en-US" altLang="ko-KR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867F17-1F3E-4E41-92FB-57291292A8C1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dataset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초기상태는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(61398, 11) </a:t>
            </a:r>
            <a:endParaRPr lang="ko-KR" altLang="en-US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BF5D8-8066-4D50-B955-21B2B932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AA07EA-25E8-4B8E-B19A-629CDB505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2969008"/>
            <a:ext cx="10080052" cy="326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62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659" y="-2050"/>
            <a:ext cx="1231861" cy="973569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563" y="588543"/>
            <a:ext cx="914229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Dataset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680" y="472560"/>
            <a:ext cx="5615101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1.3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설명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867F17-1F3E-4E41-92FB-57291292A8C1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Traget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status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클래스는 총 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operating, acquired, closed, </a:t>
            </a:r>
            <a:r>
              <a:rPr lang="en-US" altLang="ko-KR" sz="1200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ipo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가지로 구성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BF5D8-8066-4D50-B955-21B2B932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5D8DFA92-F386-4448-93C2-66DCF124C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559834"/>
              </p:ext>
            </p:extLst>
          </p:nvPr>
        </p:nvGraphicFramePr>
        <p:xfrm>
          <a:off x="304800" y="1789325"/>
          <a:ext cx="10089886" cy="4539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397986">
                  <a:extLst>
                    <a:ext uri="{9D8B030D-6E8A-4147-A177-3AD203B41FA5}">
                      <a16:colId xmlns:a16="http://schemas.microsoft.com/office/drawing/2014/main" val="1862305372"/>
                    </a:ext>
                  </a:extLst>
                </a:gridCol>
                <a:gridCol w="4755896">
                  <a:extLst>
                    <a:ext uri="{9D8B030D-6E8A-4147-A177-3AD203B41FA5}">
                      <a16:colId xmlns:a16="http://schemas.microsoft.com/office/drawing/2014/main" val="2299740371"/>
                    </a:ext>
                  </a:extLst>
                </a:gridCol>
                <a:gridCol w="2936004">
                  <a:extLst>
                    <a:ext uri="{9D8B030D-6E8A-4147-A177-3AD203B41FA5}">
                      <a16:colId xmlns:a16="http://schemas.microsoft.com/office/drawing/2014/main" val="844101194"/>
                    </a:ext>
                  </a:extLst>
                </a:gridCol>
              </a:tblGrid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변수명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D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해석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D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타입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D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06261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name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회사명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236635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market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업종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(778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141218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funding_total_usd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총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투자받은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Numerical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04259"/>
                  </a:ext>
                </a:extLst>
              </a:tr>
              <a:tr h="5525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status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('operating’,  ‘acquired’, ‘closed’, '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ipo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’)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253448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country_code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국가코드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(135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개국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708671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state_code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지역코드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362604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city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도시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964831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funding_rounds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투자받은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Numerical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383104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founded_at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설립일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265441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first_funding_at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처음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투자받은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50829"/>
                  </a:ext>
                </a:extLst>
              </a:tr>
              <a:tr h="362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last_funding_at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마지막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투자받은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Categorical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939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75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659" y="-2050"/>
            <a:ext cx="1231861" cy="973569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563" y="588543"/>
            <a:ext cx="914229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Dataset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680" y="472560"/>
            <a:ext cx="5615101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1.4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분석목표 및 가설 설정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867F17-1F3E-4E41-92FB-57291292A8C1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창업을 한다면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어떤 조건에 따라 성공 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할 수 있을지 목표로 설정하여 진행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BF5D8-8066-4D50-B955-21B2B932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6867CE-2067-4B67-A06E-646C0FE5511B}"/>
              </a:ext>
            </a:extLst>
          </p:cNvPr>
          <p:cNvSpPr/>
          <p:nvPr/>
        </p:nvSpPr>
        <p:spPr>
          <a:xfrm>
            <a:off x="2826675" y="2338363"/>
            <a:ext cx="4824020" cy="4752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arenR"/>
            </a:pP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창업을 한다면 어떤 업종으로 할 것인가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</a:p>
          <a:p>
            <a:pPr marL="342900" indent="-342900">
              <a:buAutoNum type="arabicParenR"/>
            </a:pP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AutoNum type="arabicParenR"/>
            </a:pP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성공하기 좋은 국가가 있을까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3)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선택한 업종은 어느정도 투자를 받아야 할 것인가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A65ABA-7FD2-47E9-B029-3FC80F500514}"/>
              </a:ext>
            </a:extLst>
          </p:cNvPr>
          <p:cNvSpPr/>
          <p:nvPr/>
        </p:nvSpPr>
        <p:spPr>
          <a:xfrm>
            <a:off x="3645345" y="2746924"/>
            <a:ext cx="4824020" cy="4752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창업 성공에 유리한 업종이 있을 것이다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85750" indent="-285750">
              <a:buFontTx/>
              <a:buChar char="-"/>
            </a:pP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창업 성공에 유리한 국가가 있을 것이다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어느정도 투자금액이 있어야 안정적으로 운영이 될 것이다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4AB4FAA-5740-4467-A681-23AB9C4D2320}"/>
              </a:ext>
            </a:extLst>
          </p:cNvPr>
          <p:cNvGrpSpPr/>
          <p:nvPr/>
        </p:nvGrpSpPr>
        <p:grpSpPr>
          <a:xfrm>
            <a:off x="975474" y="4904292"/>
            <a:ext cx="1851201" cy="1603140"/>
            <a:chOff x="863074" y="4801141"/>
            <a:chExt cx="1799622" cy="1558473"/>
          </a:xfrm>
        </p:grpSpPr>
        <p:pic>
          <p:nvPicPr>
            <p:cNvPr id="18" name="Picture 10" descr="1">
              <a:extLst>
                <a:ext uri="{FF2B5EF4-FFF2-40B4-BE49-F238E27FC236}">
                  <a16:creationId xmlns:a16="http://schemas.microsoft.com/office/drawing/2014/main" id="{A73EEE04-F7AB-48BD-BA19-3AD0D2AD80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074" y="4801141"/>
              <a:ext cx="1799622" cy="1558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AB587F8-5C66-43AE-A0C8-C770D03A69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0" r="16036" b="22834"/>
            <a:stretch/>
          </p:blipFill>
          <p:spPr>
            <a:xfrm>
              <a:off x="1377245" y="5054875"/>
              <a:ext cx="771279" cy="877141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9658A39-EE45-4EC5-816C-EEEB83AE42EB}"/>
              </a:ext>
            </a:extLst>
          </p:cNvPr>
          <p:cNvGrpSpPr/>
          <p:nvPr/>
        </p:nvGrpSpPr>
        <p:grpSpPr>
          <a:xfrm>
            <a:off x="928492" y="1751984"/>
            <a:ext cx="1850488" cy="1603757"/>
            <a:chOff x="399584" y="2025363"/>
            <a:chExt cx="1384497" cy="1199898"/>
          </a:xfrm>
        </p:grpSpPr>
        <p:pic>
          <p:nvPicPr>
            <p:cNvPr id="11" name="Picture 10" descr="1">
              <a:extLst>
                <a:ext uri="{FF2B5EF4-FFF2-40B4-BE49-F238E27FC236}">
                  <a16:creationId xmlns:a16="http://schemas.microsoft.com/office/drawing/2014/main" id="{49024F00-2FDE-4524-9079-3C30CDEBED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84" y="2025363"/>
              <a:ext cx="1384497" cy="1199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216C485-D8FA-47F8-A47D-E1C1CC7D90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575" r="7217" b="18991"/>
            <a:stretch/>
          </p:blipFill>
          <p:spPr>
            <a:xfrm>
              <a:off x="806949" y="2324099"/>
              <a:ext cx="683476" cy="665411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28F4251-1CE4-4501-8D65-D0EA5D589E2F}"/>
              </a:ext>
            </a:extLst>
          </p:cNvPr>
          <p:cNvGrpSpPr/>
          <p:nvPr/>
        </p:nvGrpSpPr>
        <p:grpSpPr>
          <a:xfrm>
            <a:off x="975474" y="3317519"/>
            <a:ext cx="1851201" cy="1603140"/>
            <a:chOff x="446567" y="3300360"/>
            <a:chExt cx="1385030" cy="1199436"/>
          </a:xfrm>
        </p:grpSpPr>
        <p:pic>
          <p:nvPicPr>
            <p:cNvPr id="15" name="Picture 10" descr="1">
              <a:extLst>
                <a:ext uri="{FF2B5EF4-FFF2-40B4-BE49-F238E27FC236}">
                  <a16:creationId xmlns:a16="http://schemas.microsoft.com/office/drawing/2014/main" id="{8AA58345-8E84-40D4-BF1D-367FB9607A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567" y="3300360"/>
              <a:ext cx="1385030" cy="1199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2B9BB24F-3130-40BA-969D-A00A56FB32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5161" r="13175" b="20826"/>
            <a:stretch/>
          </p:blipFill>
          <p:spPr>
            <a:xfrm>
              <a:off x="842285" y="3537031"/>
              <a:ext cx="686266" cy="7581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211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659" y="-2050"/>
            <a:ext cx="1231861" cy="973569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563" y="588543"/>
            <a:ext cx="914229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 wrangling &amp; EDA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680" y="472560"/>
            <a:ext cx="5615101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2.1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Feature</a:t>
            </a:r>
            <a:endParaRPr lang="ko-KR" altLang="en-US" b="1" dirty="0">
              <a:solidFill>
                <a:srgbClr val="0C4DA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867F17-1F3E-4E41-92FB-57291292A8C1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Target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status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분류분석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진행할 것이며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불필요한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Feature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들은 삭제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하고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많은 </a:t>
            </a:r>
            <a:r>
              <a:rPr lang="ko-KR" altLang="en-US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카디널리티를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가진 피처들은 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그룹화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통해 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차원의 저주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위험을 방지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BF5D8-8066-4D50-B955-21B2B932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CE6DA2-9C65-4E6D-A7EB-357DDB97D231}"/>
              </a:ext>
            </a:extLst>
          </p:cNvPr>
          <p:cNvSpPr/>
          <p:nvPr/>
        </p:nvSpPr>
        <p:spPr>
          <a:xfrm>
            <a:off x="431763" y="1873287"/>
            <a:ext cx="4824020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2.1.1 Feature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제거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A7F487-1A1C-4010-BA76-912AE39B0173}"/>
              </a:ext>
            </a:extLst>
          </p:cNvPr>
          <p:cNvSpPr/>
          <p:nvPr/>
        </p:nvSpPr>
        <p:spPr>
          <a:xfrm>
            <a:off x="659098" y="2280201"/>
            <a:ext cx="4528103" cy="6055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Name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회사의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고유값으로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불필요하다고 판단하여 제거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State_code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just"/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국가만 해도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135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개나 존재하는데 여기서 더 세분화 하면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차원의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저주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위험이 있음으로 제거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3)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City_code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State_code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동일 이유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4)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First_funding_at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도메인 지식이 부족하여 분석하는데 오히려 방해가 될 것 같아 제거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5) Last_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funding_at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First_funding_at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동일 이유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7A7193-0905-4164-A30B-2DCF710BBAC3}"/>
              </a:ext>
            </a:extLst>
          </p:cNvPr>
          <p:cNvSpPr/>
          <p:nvPr/>
        </p:nvSpPr>
        <p:spPr>
          <a:xfrm>
            <a:off x="431763" y="5425138"/>
            <a:ext cx="4824020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2.1.2 Feature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추가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5B319E4-A100-4E7B-BB35-679213CBB879}"/>
              </a:ext>
            </a:extLst>
          </p:cNvPr>
          <p:cNvSpPr/>
          <p:nvPr/>
        </p:nvSpPr>
        <p:spPr>
          <a:xfrm>
            <a:off x="659099" y="5772458"/>
            <a:ext cx="4399284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Average_funding_once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- 1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 평균 투자금액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투자 금액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투자 횟수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E949A9-AE27-4D4B-864E-BC2D806F8574}"/>
              </a:ext>
            </a:extLst>
          </p:cNvPr>
          <p:cNvSpPr/>
          <p:nvPr/>
        </p:nvSpPr>
        <p:spPr>
          <a:xfrm>
            <a:off x="5382023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2.2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Target</a:t>
            </a:r>
            <a:endParaRPr lang="ko-KR" altLang="en-US" b="1" dirty="0">
              <a:solidFill>
                <a:srgbClr val="0C4DA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4489BB-C03C-441B-8615-8B92EBB4B803}"/>
              </a:ext>
            </a:extLst>
          </p:cNvPr>
          <p:cNvSpPr/>
          <p:nvPr/>
        </p:nvSpPr>
        <p:spPr>
          <a:xfrm>
            <a:off x="5629413" y="1873287"/>
            <a:ext cx="4824020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2.2.1 Target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EC59FC-1709-4AC2-A7F5-116A0CF01F4B}"/>
              </a:ext>
            </a:extLst>
          </p:cNvPr>
          <p:cNvSpPr/>
          <p:nvPr/>
        </p:nvSpPr>
        <p:spPr>
          <a:xfrm>
            <a:off x="5856749" y="2280201"/>
            <a:ext cx="4528103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arenR"/>
            </a:pP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Status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창업 성공 유무를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판단하는게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목적 이므로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ipo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acquired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성공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operating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운영중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closed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실패로 총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 클래스로 설정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2ED4C1-7B5C-4BD7-9750-9B19A55ACC65}"/>
              </a:ext>
            </a:extLst>
          </p:cNvPr>
          <p:cNvSpPr/>
          <p:nvPr/>
        </p:nvSpPr>
        <p:spPr>
          <a:xfrm>
            <a:off x="5382023" y="3288512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2.3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Group</a:t>
            </a:r>
            <a:endParaRPr lang="ko-KR" altLang="en-US" b="1" dirty="0">
              <a:solidFill>
                <a:srgbClr val="0C4DA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533FF4-1C9E-4926-A786-B8EBF5A94C7C}"/>
              </a:ext>
            </a:extLst>
          </p:cNvPr>
          <p:cNvSpPr/>
          <p:nvPr/>
        </p:nvSpPr>
        <p:spPr>
          <a:xfrm>
            <a:off x="5629413" y="3829568"/>
            <a:ext cx="4824020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2.3.1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그룹화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8361E83-B4A1-48FD-A770-5C55955BA721}"/>
              </a:ext>
            </a:extLst>
          </p:cNvPr>
          <p:cNvSpPr/>
          <p:nvPr/>
        </p:nvSpPr>
        <p:spPr>
          <a:xfrm>
            <a:off x="5856749" y="4236482"/>
            <a:ext cx="4528103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arenR"/>
            </a:pP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Market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업종은 많은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카디널리티를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가지나 중요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feature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 생각하여 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제거하진 못하고 상위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개를 제외하곤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그룹화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County_code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지역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도시는 삭제 했지만 상위 카테고리인 국가 코드는 제거 할 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수가 없어 상위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개를 제외하곤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그룹화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3)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Founded_at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설립일은 일자별로 다루기엔 너무 많아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단위로 그룹화하고 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2005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이전은 하나로 묶음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913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659" y="-2050"/>
            <a:ext cx="1231861" cy="973569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563" y="588543"/>
            <a:ext cx="914229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 wrangling &amp; EDA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680" y="472560"/>
            <a:ext cx="5615101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2.4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중복 데이터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b="1" dirty="0" err="1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결측치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867F17-1F3E-4E41-92FB-57291292A8C1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중복데이터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결측치는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제거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하였으며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이상치는 유지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하고 타겟이 불균형한 상태로 이후 </a:t>
            </a:r>
            <a:r>
              <a:rPr lang="ko-KR" altLang="en-US" sz="1200" dirty="0" err="1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오버샘플링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언더샘플링</a:t>
            </a:r>
            <a:r>
              <a:rPr lang="ko-KR" altLang="en-US" sz="1200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시도하여 좋은 쪽으로 선정</a:t>
            </a:r>
            <a:endParaRPr lang="en-US" altLang="ko-KR" sz="1200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또한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훈련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검증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테스트 셋은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8:1:1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비율로 분할</a:t>
            </a:r>
            <a:endParaRPr lang="ko-KR" altLang="en-US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BF5D8-8066-4D50-B955-21B2B932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CE6DA2-9C65-4E6D-A7EB-357DDB97D231}"/>
              </a:ext>
            </a:extLst>
          </p:cNvPr>
          <p:cNvSpPr/>
          <p:nvPr/>
        </p:nvSpPr>
        <p:spPr>
          <a:xfrm>
            <a:off x="431763" y="1873287"/>
            <a:ext cx="4824020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2.4.1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중복데이터 처리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A7F487-1A1C-4010-BA76-912AE39B0173}"/>
              </a:ext>
            </a:extLst>
          </p:cNvPr>
          <p:cNvSpPr/>
          <p:nvPr/>
        </p:nvSpPr>
        <p:spPr>
          <a:xfrm>
            <a:off x="659098" y="2280201"/>
            <a:ext cx="4686808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 Name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중복된 이름이 있었으나 이름만 같은 회사임을 확인 이후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Feature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제거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B84F9C-90A4-480D-A84A-580D2A687150}"/>
              </a:ext>
            </a:extLst>
          </p:cNvPr>
          <p:cNvSpPr/>
          <p:nvPr/>
        </p:nvSpPr>
        <p:spPr>
          <a:xfrm>
            <a:off x="431763" y="3150792"/>
            <a:ext cx="4824020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2.4.2 </a:t>
            </a:r>
            <a:r>
              <a:rPr lang="ko-KR" altLang="en-US" sz="15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결측치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처리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75AF5C-E460-424B-B56F-FE3522DF6413}"/>
              </a:ext>
            </a:extLst>
          </p:cNvPr>
          <p:cNvSpPr/>
          <p:nvPr/>
        </p:nvSpPr>
        <p:spPr>
          <a:xfrm>
            <a:off x="659098" y="3557706"/>
            <a:ext cx="4528103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en-US" altLang="ko-KR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Founded_at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설립일이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결측치가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많았으나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최빈값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평균값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등으로 대체하기엔 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분석에 방해가 될 것으로 판단하여 데이터 손실이 많아도 제거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공통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결측치가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미만인 것들은 제거하고 불필요한 피처들도 제거하여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확인하니 모든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결측치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처리 완료 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4B1C491-F129-40DB-85A0-493A239EBE9F}"/>
              </a:ext>
            </a:extLst>
          </p:cNvPr>
          <p:cNvSpPr/>
          <p:nvPr/>
        </p:nvSpPr>
        <p:spPr>
          <a:xfrm>
            <a:off x="5346700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2.5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불균형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2C6012E-D987-4A7F-ABF6-4641CDB954A2}"/>
              </a:ext>
            </a:extLst>
          </p:cNvPr>
          <p:cNvSpPr/>
          <p:nvPr/>
        </p:nvSpPr>
        <p:spPr>
          <a:xfrm>
            <a:off x="5629413" y="1873287"/>
            <a:ext cx="4755439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2.5.1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불균형 처리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2A93E64-CF32-4259-AC6A-6DAEEF6BB13F}"/>
              </a:ext>
            </a:extLst>
          </p:cNvPr>
          <p:cNvSpPr/>
          <p:nvPr/>
        </p:nvSpPr>
        <p:spPr>
          <a:xfrm>
            <a:off x="5856749" y="2252110"/>
            <a:ext cx="4528103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데이터의 상태가 매우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불균형하므로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이대로 진행을 한다면   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제대로 된 분류분석을 할 수 없음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오버샘플링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언더샘플링을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통하여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훈련셋트를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다시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만듬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9B7B47D-8755-4570-8E38-AD9549EB5B1F}"/>
              </a:ext>
            </a:extLst>
          </p:cNvPr>
          <p:cNvSpPr/>
          <p:nvPr/>
        </p:nvSpPr>
        <p:spPr>
          <a:xfrm>
            <a:off x="431763" y="5100089"/>
            <a:ext cx="4824020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2.4.3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이상치 유지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9FBBDB-BA21-465C-B7EC-E0BA9247972D}"/>
              </a:ext>
            </a:extLst>
          </p:cNvPr>
          <p:cNvSpPr/>
          <p:nvPr/>
        </p:nvSpPr>
        <p:spPr>
          <a:xfrm>
            <a:off x="659098" y="5494548"/>
            <a:ext cx="4528103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이상치를 상한선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하한선에 맞추거나 제거하려 했지만 생각을 해보니 트리모델은 </a:t>
            </a:r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외삽이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불가능한걸로 알고 있음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따라서 이상치도 중요한 데이터라 생각하고 그대로 가져가서 사용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88FDB1-E901-4958-8659-76E3B42B4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709"/>
          <a:stretch/>
        </p:blipFill>
        <p:spPr>
          <a:xfrm>
            <a:off x="6259378" y="3557706"/>
            <a:ext cx="3495508" cy="264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50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 wrangling &amp; EDA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2011~2015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년까지는 모바일시장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2006~2011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년은 기타 업종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2005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이전엔 분석시장이 활발</a:t>
            </a:r>
            <a:endParaRPr lang="en-US" altLang="ko-KR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따라서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업종 선호도가 존재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2.6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업종 선호도 그래프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45E7F5-2916-4FAE-A517-591B6DC2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00" y="1764162"/>
            <a:ext cx="3232085" cy="266496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0732FEF-FBED-4314-AD61-8C17075170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2"/>
          <a:stretch/>
        </p:blipFill>
        <p:spPr>
          <a:xfrm>
            <a:off x="3491385" y="1764161"/>
            <a:ext cx="3586603" cy="26649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3831FC-B7F3-47A7-9B4F-113764AFE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988" y="1764162"/>
            <a:ext cx="3331437" cy="2623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4DE18BA8-9332-4D03-B3C5-BF0BF2742B4D}"/>
              </a:ext>
            </a:extLst>
          </p:cNvPr>
          <p:cNvSpPr/>
          <p:nvPr/>
        </p:nvSpPr>
        <p:spPr>
          <a:xfrm>
            <a:off x="665668" y="4932346"/>
            <a:ext cx="2172782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2011~2015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1E6C83-C847-4146-9C2F-61EEE166D803}"/>
              </a:ext>
            </a:extLst>
          </p:cNvPr>
          <p:cNvSpPr/>
          <p:nvPr/>
        </p:nvSpPr>
        <p:spPr>
          <a:xfrm>
            <a:off x="4047043" y="4932346"/>
            <a:ext cx="2172782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2006~2011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3D9E46B-CE13-43B2-9952-929C7FC3F288}"/>
              </a:ext>
            </a:extLst>
          </p:cNvPr>
          <p:cNvSpPr/>
          <p:nvPr/>
        </p:nvSpPr>
        <p:spPr>
          <a:xfrm>
            <a:off x="7667531" y="4932346"/>
            <a:ext cx="2172782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~ 2005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4586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 wrangling &amp; EDA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투자금액으로 보면 미국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중국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영국 순이지만 미국엔 창업 회사들도 많아 총 투자 금액이 높은 것으로 예상</a:t>
            </a:r>
            <a:endParaRPr lang="en-US" altLang="ko-KR" sz="1200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사용하기엔 부적합하여 새로운 피처 생성 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2.7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국가별 총 투자 금액 그래프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7D02246-D862-48A4-8550-AA3D0364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23624"/>
            <a:ext cx="10082213" cy="412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40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 wrangling &amp; EDA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 평균 투자금액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투자 금액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투자 횟수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보면 중국이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이고 미국은 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</a:t>
            </a:r>
            <a:endParaRPr lang="en-US" altLang="ko-KR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따라서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모델링을 할 땐 총 투자 금액보단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 평균 투자금액으로 설정</a:t>
            </a:r>
            <a:endParaRPr lang="en-US" altLang="ko-KR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2.8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국가별 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 평균 투자 금액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C301701-3D37-4AFA-B5CC-DAC17C93F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2076090"/>
            <a:ext cx="10089886" cy="410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42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 wrangling &amp; EDA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업종들의 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 평균 투자금액으로 생산시설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원자재값 등은 업종별로 다를 것으로 예상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2.9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업종별 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 평균 투자 금액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3C629EA-A126-4CF7-B8DC-49C35F559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55294"/>
            <a:ext cx="10082213" cy="37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93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Modeling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 </a:t>
            </a:r>
            <a:r>
              <a:rPr lang="ko-KR" altLang="en-US" sz="1200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스케일러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모두 정확도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f1_score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동일하지만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이상치를 제거 안하고 사용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함에 따라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영향을 적게 받는 </a:t>
            </a:r>
            <a:r>
              <a:rPr lang="en-US" altLang="ko-KR" sz="1200" dirty="0" err="1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Robustscaler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 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3.1 Modeling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성능 비교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81DAA2-D2D1-4719-9998-E3909F892F06}"/>
              </a:ext>
            </a:extLst>
          </p:cNvPr>
          <p:cNvSpPr/>
          <p:nvPr/>
        </p:nvSpPr>
        <p:spPr>
          <a:xfrm>
            <a:off x="431763" y="1873287"/>
            <a:ext cx="5706066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3.1.1 </a:t>
            </a:r>
            <a:r>
              <a:rPr lang="en-US" altLang="ko-KR" sz="15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Robustscaler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&amp;</a:t>
            </a:r>
            <a:r>
              <a:rPr lang="en-US" altLang="ko-KR" sz="1500" b="1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 </a:t>
            </a:r>
            <a:r>
              <a:rPr lang="en-US" altLang="ko-KR" sz="1500" b="1" dirty="0" err="1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MinMaxScaler</a:t>
            </a:r>
            <a:r>
              <a:rPr lang="en-US" altLang="ko-KR" sz="1500" b="1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&amp; </a:t>
            </a:r>
            <a:r>
              <a:rPr lang="en-US" altLang="ko-KR" sz="1500" b="1" dirty="0" err="1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StandardScaler</a:t>
            </a:r>
            <a:endParaRPr lang="en-US" altLang="ko-KR" sz="1500" b="1" dirty="0">
              <a:solidFill>
                <a:srgbClr val="000000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i="0" dirty="0">
              <a:solidFill>
                <a:srgbClr val="292929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5EC3A24-EFF7-4EB1-AED1-A6323F925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31" y="4639826"/>
            <a:ext cx="2871980" cy="121796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0F5F602-1792-48A7-BC84-ED6252F2B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63" y="2571144"/>
            <a:ext cx="2871981" cy="188055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B30D8A7-AD4C-47F1-A55B-AB42FD0EE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763" y="2533038"/>
            <a:ext cx="2840509" cy="1912032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00091383-D922-4294-BA4B-846481313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897" y="4643626"/>
            <a:ext cx="2840509" cy="117850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A24D861D-EED6-42F8-83F3-D24B60C7A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068" y="2535720"/>
            <a:ext cx="2871982" cy="190416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B78F89F-DEF3-4E5B-A7EB-6A5FE72C7F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5906" y="4639826"/>
            <a:ext cx="2880682" cy="1204094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782913E5-C776-4B64-A0A9-0395F40088AA}"/>
              </a:ext>
            </a:extLst>
          </p:cNvPr>
          <p:cNvSpPr/>
          <p:nvPr/>
        </p:nvSpPr>
        <p:spPr>
          <a:xfrm>
            <a:off x="313230" y="5935277"/>
            <a:ext cx="2871981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Robustscaler</a:t>
            </a:r>
            <a:endParaRPr lang="ko-KR" altLang="en-US" sz="1200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DA104E1-EB4A-4EB7-9135-FB6FFF6B7952}"/>
              </a:ext>
            </a:extLst>
          </p:cNvPr>
          <p:cNvSpPr/>
          <p:nvPr/>
        </p:nvSpPr>
        <p:spPr>
          <a:xfrm>
            <a:off x="3916425" y="5935277"/>
            <a:ext cx="2871981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0" dirty="0" err="1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MinMaxScaler</a:t>
            </a:r>
            <a:endParaRPr lang="ko-KR" altLang="en-US" sz="1200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20CE602-8F47-4931-997A-DBBDB6B805D1}"/>
              </a:ext>
            </a:extLst>
          </p:cNvPr>
          <p:cNvSpPr/>
          <p:nvPr/>
        </p:nvSpPr>
        <p:spPr>
          <a:xfrm>
            <a:off x="7345907" y="5935277"/>
            <a:ext cx="2871981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0" dirty="0" err="1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StandardScaler</a:t>
            </a:r>
            <a:endParaRPr lang="en-US" altLang="ko-KR" sz="1200" b="0" dirty="0">
              <a:solidFill>
                <a:srgbClr val="FFFFFF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CF52442-E22A-48F3-9F86-BF9C50810F71}"/>
              </a:ext>
            </a:extLst>
          </p:cNvPr>
          <p:cNvSpPr/>
          <p:nvPr/>
        </p:nvSpPr>
        <p:spPr>
          <a:xfrm>
            <a:off x="2342895" y="5342489"/>
            <a:ext cx="362205" cy="34389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4993ED7-2990-4F89-8853-1C80623BEFF3}"/>
              </a:ext>
            </a:extLst>
          </p:cNvPr>
          <p:cNvSpPr/>
          <p:nvPr/>
        </p:nvSpPr>
        <p:spPr>
          <a:xfrm>
            <a:off x="5956726" y="5342489"/>
            <a:ext cx="362205" cy="34389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895E32B-3386-4396-95AC-0A2BE0A1DC49}"/>
              </a:ext>
            </a:extLst>
          </p:cNvPr>
          <p:cNvSpPr/>
          <p:nvPr/>
        </p:nvSpPr>
        <p:spPr>
          <a:xfrm>
            <a:off x="9370486" y="5342489"/>
            <a:ext cx="362205" cy="34389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325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FE8DB9BD-03FC-41C1-A640-95200B6D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511" y="4455951"/>
            <a:ext cx="3331297" cy="1459589"/>
          </a:xfrm>
          <a:prstGeom prst="rect">
            <a:avLst/>
          </a:prstGeom>
        </p:spPr>
      </p:pic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Modeling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여기서 타겟의 비율을 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1:1:1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설정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따라서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기준모델은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0.33</a:t>
            </a:r>
          </a:p>
          <a:p>
            <a:pPr algn="ctr"/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이번 데이터는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오버샘플링</a:t>
            </a:r>
            <a:r>
              <a:rPr lang="ko-KR" altLang="en-US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언더샘플링보다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더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좋은 성능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임을 확인</a:t>
            </a:r>
            <a:endParaRPr lang="en-US" altLang="ko-KR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3.1 Modeling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성능 비교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61A60D-0280-4484-BD3A-A99C43553FF8}"/>
              </a:ext>
            </a:extLst>
          </p:cNvPr>
          <p:cNvSpPr/>
          <p:nvPr/>
        </p:nvSpPr>
        <p:spPr>
          <a:xfrm>
            <a:off x="431763" y="1873287"/>
            <a:ext cx="5273712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3.1.2 </a:t>
            </a:r>
            <a:r>
              <a:rPr lang="en-US" altLang="ko-KR" sz="15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Undersampling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15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Nearmiss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&amp; Oversampling(SMOTE)</a:t>
            </a:r>
            <a:endParaRPr lang="en-US" altLang="ko-KR" sz="1600" b="1" i="0" dirty="0">
              <a:solidFill>
                <a:srgbClr val="292929"/>
              </a:solidFill>
              <a:effectLst/>
              <a:latin typeface="sohne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55536F8-0E39-475B-BC95-231CFFA3FD4A}"/>
              </a:ext>
            </a:extLst>
          </p:cNvPr>
          <p:cNvSpPr/>
          <p:nvPr/>
        </p:nvSpPr>
        <p:spPr>
          <a:xfrm>
            <a:off x="750508" y="5935277"/>
            <a:ext cx="3331297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언더샘플링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nearmiss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D53231-B481-4B46-B858-EC83BE801509}"/>
              </a:ext>
            </a:extLst>
          </p:cNvPr>
          <p:cNvSpPr/>
          <p:nvPr/>
        </p:nvSpPr>
        <p:spPr>
          <a:xfrm>
            <a:off x="6293511" y="5935277"/>
            <a:ext cx="3331297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오버샘플링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(smote) 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08DE0E8-67D2-466F-B0DD-7E488E8E7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91" y="2320253"/>
            <a:ext cx="3186184" cy="213569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4F116F6-82A7-40B3-85C3-7C83FD734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92" y="4405139"/>
            <a:ext cx="3341614" cy="144455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D3406F9-1C1B-4855-ADA0-7DE0EE539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8" y="2298835"/>
            <a:ext cx="3186184" cy="2147211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66074AC-66C8-4C4B-9D82-2E253DC6BA92}"/>
              </a:ext>
            </a:extLst>
          </p:cNvPr>
          <p:cNvSpPr/>
          <p:nvPr/>
        </p:nvSpPr>
        <p:spPr>
          <a:xfrm>
            <a:off x="3067050" y="5257800"/>
            <a:ext cx="419100" cy="39791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E6F9029-7CD5-4102-8EA8-C1603D0D17FD}"/>
              </a:ext>
            </a:extLst>
          </p:cNvPr>
          <p:cNvSpPr/>
          <p:nvPr/>
        </p:nvSpPr>
        <p:spPr>
          <a:xfrm>
            <a:off x="8677275" y="5291791"/>
            <a:ext cx="419100" cy="39791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599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Modeling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KNN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</a:t>
            </a:r>
            <a:r>
              <a:rPr lang="ko-KR" altLang="en-US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랜덤포레스트보다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성능이 더 좋음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확인 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3.1 Modeling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성능 비교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A15E34-8404-4286-B6A9-18D2287D87FA}"/>
              </a:ext>
            </a:extLst>
          </p:cNvPr>
          <p:cNvSpPr/>
          <p:nvPr/>
        </p:nvSpPr>
        <p:spPr>
          <a:xfrm>
            <a:off x="431762" y="1873287"/>
            <a:ext cx="5994437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3.1.3 </a:t>
            </a:r>
            <a:r>
              <a:rPr lang="en-US" altLang="ko-KR" sz="15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RandomForestClassifier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&amp; KNN(</a:t>
            </a:r>
            <a:r>
              <a:rPr lang="en-US" altLang="ko-KR" sz="1500" b="1" i="0" dirty="0">
                <a:solidFill>
                  <a:srgbClr val="292929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K-Nearest </a:t>
            </a:r>
            <a:r>
              <a:rPr lang="en-US" altLang="ko-KR" sz="1500" b="1" i="0" dirty="0" err="1">
                <a:solidFill>
                  <a:srgbClr val="292929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Neighbours</a:t>
            </a:r>
            <a:r>
              <a:rPr lang="en-US" altLang="ko-KR" sz="1500" b="1" i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en-US" altLang="ko-KR" sz="1500" b="1" i="0" dirty="0">
              <a:solidFill>
                <a:srgbClr val="292929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9280D7-6527-45BF-B916-938076013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07" y="2230393"/>
            <a:ext cx="3431831" cy="22146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6BE9A72-1829-445B-8BD2-24ED61189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199" y="2201971"/>
            <a:ext cx="3331298" cy="215817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6396F56-25D8-4090-8AE2-C63E72571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770" y="4496667"/>
            <a:ext cx="3331297" cy="140771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1A8F6C4-905F-4E90-A957-618C8FC96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08" y="4477554"/>
            <a:ext cx="3431831" cy="1449193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83773E3-C176-4D3C-8A1C-6463D01C45BC}"/>
              </a:ext>
            </a:extLst>
          </p:cNvPr>
          <p:cNvSpPr/>
          <p:nvPr/>
        </p:nvSpPr>
        <p:spPr>
          <a:xfrm>
            <a:off x="750508" y="5935277"/>
            <a:ext cx="3331297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RandomForestClassifier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09E408-B6FF-4939-AEB4-164874B8AE98}"/>
              </a:ext>
            </a:extLst>
          </p:cNvPr>
          <p:cNvSpPr/>
          <p:nvPr/>
        </p:nvSpPr>
        <p:spPr>
          <a:xfrm>
            <a:off x="6293511" y="5935277"/>
            <a:ext cx="3331297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KNN(</a:t>
            </a:r>
            <a:r>
              <a:rPr lang="en-US" altLang="ko-KR" sz="1200" i="0" dirty="0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K-Nearest </a:t>
            </a:r>
            <a:r>
              <a:rPr lang="en-US" altLang="ko-KR" sz="1200" i="0" dirty="0" err="1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Neighbours</a:t>
            </a:r>
            <a:r>
              <a:rPr lang="en-US" altLang="ko-KR" sz="1200" i="0" dirty="0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26FA605-9D90-47B3-A6B5-DF3C6C3E0FB8}"/>
              </a:ext>
            </a:extLst>
          </p:cNvPr>
          <p:cNvSpPr/>
          <p:nvPr/>
        </p:nvSpPr>
        <p:spPr>
          <a:xfrm>
            <a:off x="8658225" y="5345585"/>
            <a:ext cx="419100" cy="39791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549E48D-D450-4E76-A72F-7B04343558FB}"/>
              </a:ext>
            </a:extLst>
          </p:cNvPr>
          <p:cNvSpPr/>
          <p:nvPr/>
        </p:nvSpPr>
        <p:spPr>
          <a:xfrm>
            <a:off x="3120556" y="5364795"/>
            <a:ext cx="419100" cy="39791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600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Modeling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0" i="0" dirty="0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최적 </a:t>
            </a:r>
            <a:r>
              <a:rPr lang="ko-KR" altLang="en-US" sz="1200" b="0" i="0" dirty="0" err="1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하이퍼파라미터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{'weights': 'uniform', '</a:t>
            </a:r>
            <a:r>
              <a:rPr lang="en-US" altLang="ko-KR" sz="1200" b="0" i="0" dirty="0" err="1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n_neighbors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': 3, 'metric': '</a:t>
            </a:r>
            <a:r>
              <a:rPr lang="en-US" altLang="ko-KR" sz="1200" b="0" i="0" dirty="0" err="1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euclidean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’}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나왔으나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distance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스코어가 더 좋게 나옴</a:t>
            </a:r>
            <a:endParaRPr lang="ko-KR" altLang="en-US" sz="1200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 Modeling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최적 파라미터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A15E34-8404-4286-B6A9-18D2287D87FA}"/>
              </a:ext>
            </a:extLst>
          </p:cNvPr>
          <p:cNvSpPr/>
          <p:nvPr/>
        </p:nvSpPr>
        <p:spPr>
          <a:xfrm>
            <a:off x="431762" y="1873287"/>
            <a:ext cx="5994437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3.2.1 </a:t>
            </a:r>
            <a:r>
              <a:rPr lang="en-US" altLang="ko-KR" sz="1500" b="1" dirty="0" err="1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RandomizedSearchCV</a:t>
            </a:r>
            <a:r>
              <a:rPr lang="en-US" altLang="ko-KR" sz="1500" b="1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endParaRPr lang="en-US" altLang="ko-KR" sz="1500" b="1" dirty="0">
              <a:solidFill>
                <a:srgbClr val="000000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AB23E3-39D9-4C7C-8E82-05C1BDA8C5ED}"/>
              </a:ext>
            </a:extLst>
          </p:cNvPr>
          <p:cNvSpPr/>
          <p:nvPr/>
        </p:nvSpPr>
        <p:spPr>
          <a:xfrm>
            <a:off x="659098" y="2280201"/>
            <a:ext cx="3978890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Tx/>
              <a:buChar char="-"/>
            </a:pPr>
            <a:r>
              <a:rPr lang="en-US" altLang="ko-KR" sz="1200" b="0" dirty="0" err="1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KNeighborsClassifier</a:t>
            </a:r>
            <a:r>
              <a:rPr lang="ko-KR" altLang="en-US" sz="1200" b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파라미터가 크게 </a:t>
            </a:r>
            <a:r>
              <a:rPr lang="en-US" altLang="ko-KR" sz="1200" b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b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 사용</a:t>
            </a:r>
            <a:endParaRPr lang="en-US" altLang="ko-KR" sz="1200" b="0" dirty="0">
              <a:solidFill>
                <a:schemeClr val="tx1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dirty="0" err="1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n_neighbors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</a:t>
            </a:r>
            <a:r>
              <a:rPr lang="ko-KR" altLang="en-US" sz="1200" b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최근접 이웃 수 설정 후 주변데이터가 더 많이 포함된 것으로 설정 따라서 짝수로 설정 시 동점이 나올 가능성이 있어 홀수 추천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b="0" dirty="0">
              <a:solidFill>
                <a:schemeClr val="tx1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weights = </a:t>
            </a:r>
            <a:r>
              <a:rPr lang="ko-KR" altLang="en-US" sz="1200" b="0" i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분류할 때 인접한 샘플의 거리에 따라 다른 가중치 부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</a:t>
            </a:r>
            <a:endParaRPr lang="en-US" altLang="ko-KR" sz="1200" b="0" dirty="0">
              <a:solidFill>
                <a:schemeClr val="tx1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metric = </a:t>
            </a:r>
            <a:r>
              <a:rPr lang="ko-KR" altLang="en-US" sz="1200" b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거리계산 방식</a:t>
            </a:r>
            <a:endParaRPr lang="en-US" altLang="ko-KR" sz="1200" b="0" dirty="0">
              <a:solidFill>
                <a:schemeClr val="tx1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200" b="0" dirty="0">
              <a:solidFill>
                <a:schemeClr val="tx1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dirty="0" err="1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Scoreing</a:t>
            </a:r>
            <a:r>
              <a:rPr lang="en-US" altLang="ko-KR" sz="1200" b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f1_score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너무 떨어짐 따라서 </a:t>
            </a:r>
            <a:r>
              <a: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f1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설정</a:t>
            </a:r>
            <a:r>
              <a:rPr lang="ko-KR" altLang="en-US" sz="1200" b="0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C8CD6B-2AD2-486C-9C24-E0736E692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988" y="1978748"/>
            <a:ext cx="5709547" cy="332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54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Modeling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F1_score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동일하지만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정확도는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0.01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상승</a:t>
            </a:r>
            <a:endParaRPr lang="en-US" altLang="ko-KR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최종 모델의 성능은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정확도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0.65, f1 score 0.38</a:t>
            </a:r>
            <a:endParaRPr lang="ko-KR" altLang="en-US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 Modeling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최적 파라미터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A15E34-8404-4286-B6A9-18D2287D87FA}"/>
              </a:ext>
            </a:extLst>
          </p:cNvPr>
          <p:cNvSpPr/>
          <p:nvPr/>
        </p:nvSpPr>
        <p:spPr>
          <a:xfrm>
            <a:off x="431762" y="1873287"/>
            <a:ext cx="5994437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3.2.2 </a:t>
            </a:r>
            <a:r>
              <a:rPr lang="en-US" altLang="ko-KR" sz="1500" b="1" dirty="0" err="1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RandomizedSearchCV</a:t>
            </a:r>
            <a:r>
              <a:rPr lang="en-US" altLang="ko-KR" sz="1500" b="1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endParaRPr lang="en-US" altLang="ko-KR" sz="1500" b="1" dirty="0">
              <a:solidFill>
                <a:srgbClr val="000000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40C1583-9668-4045-BA92-867D599BD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05" y="2333958"/>
            <a:ext cx="3331298" cy="215817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06F73AE-75F1-42C4-9324-32CF58662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07" y="4527564"/>
            <a:ext cx="3331297" cy="14077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5417746-95F8-4E29-B8EB-F4EFB0B35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818" y="4543783"/>
            <a:ext cx="3319871" cy="13897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C8A12FB-312D-41CD-94F4-B167DA5317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6273391" y="2298533"/>
            <a:ext cx="3331298" cy="222903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85C853-E7A1-4174-817D-737AEA0B004C}"/>
              </a:ext>
            </a:extLst>
          </p:cNvPr>
          <p:cNvSpPr/>
          <p:nvPr/>
        </p:nvSpPr>
        <p:spPr>
          <a:xfrm>
            <a:off x="750508" y="5935277"/>
            <a:ext cx="3331297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파라미터 적용 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A882CA8-E379-492E-AA2B-5296B843EA30}"/>
              </a:ext>
            </a:extLst>
          </p:cNvPr>
          <p:cNvSpPr/>
          <p:nvPr/>
        </p:nvSpPr>
        <p:spPr>
          <a:xfrm>
            <a:off x="6293511" y="5935277"/>
            <a:ext cx="3331297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파라미터 적용 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3E0BA45-9C24-496D-A507-30C58DE322A6}"/>
              </a:ext>
            </a:extLst>
          </p:cNvPr>
          <p:cNvSpPr/>
          <p:nvPr/>
        </p:nvSpPr>
        <p:spPr>
          <a:xfrm>
            <a:off x="3120556" y="5364795"/>
            <a:ext cx="419100" cy="39791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9F3E72A-5E3B-4144-A0B3-ABBF5B30BB6D}"/>
              </a:ext>
            </a:extLst>
          </p:cNvPr>
          <p:cNvSpPr/>
          <p:nvPr/>
        </p:nvSpPr>
        <p:spPr>
          <a:xfrm>
            <a:off x="8644664" y="5364795"/>
            <a:ext cx="419100" cy="39791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315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해석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 평균 투자 받은 금액이 증가할수록 실패 또는 성공할 확률은 적어지고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운영에 대한 확률은 증가</a:t>
            </a:r>
            <a:endParaRPr lang="en-US" altLang="ko-KR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4.1 PDP PLOT</a:t>
            </a:r>
            <a:endParaRPr lang="ko-KR" altLang="en-US" b="1" dirty="0">
              <a:solidFill>
                <a:srgbClr val="0C4DA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A15E34-8404-4286-B6A9-18D2287D87FA}"/>
              </a:ext>
            </a:extLst>
          </p:cNvPr>
          <p:cNvSpPr/>
          <p:nvPr/>
        </p:nvSpPr>
        <p:spPr>
          <a:xfrm>
            <a:off x="431762" y="1873287"/>
            <a:ext cx="5994437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4.1.1 A</a:t>
            </a:r>
            <a:r>
              <a:rPr lang="en-US" altLang="ko-KR" sz="1500" b="1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verage Funding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O</a:t>
            </a:r>
            <a:r>
              <a:rPr lang="en-US" altLang="ko-KR" sz="1500" b="1" dirty="0">
                <a:solidFill>
                  <a:schemeClr val="tx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nce(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 평균 투자 받은 금액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en-US" altLang="ko-KR" sz="1500" b="1" dirty="0">
              <a:solidFill>
                <a:schemeClr val="tx1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4756AF-9212-4086-9ADB-AB45A2959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55279"/>
            <a:ext cx="3199452" cy="25673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4B89FD1-655E-4E50-B85C-C808BF181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795" y="2355280"/>
            <a:ext cx="3105809" cy="256738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C3539B5-E75B-447D-8E8E-4266EE91F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236" y="2316004"/>
            <a:ext cx="3220777" cy="256738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E237BA-965F-4682-93FB-23B38982E3D9}"/>
              </a:ext>
            </a:extLst>
          </p:cNvPr>
          <p:cNvSpPr/>
          <p:nvPr/>
        </p:nvSpPr>
        <p:spPr>
          <a:xfrm>
            <a:off x="695203" y="5374518"/>
            <a:ext cx="2674560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 0(closed)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7EF8083-BDCD-4538-A305-B0D1D5B44A9D}"/>
              </a:ext>
            </a:extLst>
          </p:cNvPr>
          <p:cNvSpPr/>
          <p:nvPr/>
        </p:nvSpPr>
        <p:spPr>
          <a:xfrm>
            <a:off x="4009420" y="5374518"/>
            <a:ext cx="2674560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 1(success)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47146AB-3E73-420B-BD93-414242F5486B}"/>
              </a:ext>
            </a:extLst>
          </p:cNvPr>
          <p:cNvSpPr/>
          <p:nvPr/>
        </p:nvSpPr>
        <p:spPr>
          <a:xfrm>
            <a:off x="7551093" y="5374518"/>
            <a:ext cx="2674560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 2(operating)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7966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해석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빨간 포인트는 성공확률이 높은 곳을 표시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성공할 확률이 높은 업종이 존재</a:t>
            </a:r>
            <a:endParaRPr lang="en-US" altLang="ko-KR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4.1 PDP PLOT</a:t>
            </a:r>
            <a:endParaRPr lang="ko-KR" altLang="en-US" b="1" dirty="0">
              <a:solidFill>
                <a:srgbClr val="0C4DA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A15E34-8404-4286-B6A9-18D2287D87FA}"/>
              </a:ext>
            </a:extLst>
          </p:cNvPr>
          <p:cNvSpPr/>
          <p:nvPr/>
        </p:nvSpPr>
        <p:spPr>
          <a:xfrm>
            <a:off x="431762" y="1873287"/>
            <a:ext cx="5994437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4.1.2 Market(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업종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en-US" altLang="ko-KR" sz="1500" b="1" dirty="0">
              <a:solidFill>
                <a:srgbClr val="000000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E237BA-965F-4682-93FB-23B38982E3D9}"/>
              </a:ext>
            </a:extLst>
          </p:cNvPr>
          <p:cNvSpPr/>
          <p:nvPr/>
        </p:nvSpPr>
        <p:spPr>
          <a:xfrm>
            <a:off x="695203" y="5374518"/>
            <a:ext cx="2674560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 0(closed)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7EF8083-BDCD-4538-A305-B0D1D5B44A9D}"/>
              </a:ext>
            </a:extLst>
          </p:cNvPr>
          <p:cNvSpPr/>
          <p:nvPr/>
        </p:nvSpPr>
        <p:spPr>
          <a:xfrm>
            <a:off x="4009420" y="5374518"/>
            <a:ext cx="2674560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 1(success)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47146AB-3E73-420B-BD93-414242F5486B}"/>
              </a:ext>
            </a:extLst>
          </p:cNvPr>
          <p:cNvSpPr/>
          <p:nvPr/>
        </p:nvSpPr>
        <p:spPr>
          <a:xfrm>
            <a:off x="7551093" y="5374518"/>
            <a:ext cx="2674560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 2(operating)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757282-9B06-425B-B98E-99C795BE6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02" y="2339837"/>
            <a:ext cx="3009821" cy="252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061B61-74BF-4621-9F80-C631E2AD6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572" y="2350936"/>
            <a:ext cx="3106667" cy="252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8C6EEE2-A42D-4E2F-9A07-D36463C86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703" y="2273921"/>
            <a:ext cx="3038437" cy="2520000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78D3FD55-D4CF-4E9F-AB02-C783CC63A68A}"/>
              </a:ext>
            </a:extLst>
          </p:cNvPr>
          <p:cNvSpPr/>
          <p:nvPr/>
        </p:nvSpPr>
        <p:spPr>
          <a:xfrm>
            <a:off x="4232275" y="328295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EBB796D-D138-4302-B095-3DF3E81E691E}"/>
              </a:ext>
            </a:extLst>
          </p:cNvPr>
          <p:cNvSpPr/>
          <p:nvPr/>
        </p:nvSpPr>
        <p:spPr>
          <a:xfrm>
            <a:off x="987425" y="368300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85AB42B-4AEE-442E-9A7B-93830F3C19AF}"/>
              </a:ext>
            </a:extLst>
          </p:cNvPr>
          <p:cNvSpPr/>
          <p:nvPr/>
        </p:nvSpPr>
        <p:spPr>
          <a:xfrm>
            <a:off x="7737475" y="3488202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0880D53-C816-4AC2-A468-922A67A6CBC4}"/>
              </a:ext>
            </a:extLst>
          </p:cNvPr>
          <p:cNvSpPr/>
          <p:nvPr/>
        </p:nvSpPr>
        <p:spPr>
          <a:xfrm>
            <a:off x="3425804" y="372871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DDC9D49-55DC-4530-B7A7-C6C6AF56D342}"/>
              </a:ext>
            </a:extLst>
          </p:cNvPr>
          <p:cNvSpPr/>
          <p:nvPr/>
        </p:nvSpPr>
        <p:spPr>
          <a:xfrm>
            <a:off x="6748124" y="322579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A5618DF-7A40-486E-ABBE-BBC09C0661F0}"/>
              </a:ext>
            </a:extLst>
          </p:cNvPr>
          <p:cNvSpPr/>
          <p:nvPr/>
        </p:nvSpPr>
        <p:spPr>
          <a:xfrm>
            <a:off x="10207604" y="353059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375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해석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Class0 ,Class1 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그래프를 보면 성공 확률이 높아지는 국가는 존재</a:t>
            </a:r>
            <a:endParaRPr lang="en-US" altLang="ko-KR" sz="1200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4.1 PDP PLOT</a:t>
            </a:r>
            <a:endParaRPr lang="ko-KR" altLang="en-US" b="1" dirty="0">
              <a:solidFill>
                <a:srgbClr val="0C4DA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A15E34-8404-4286-B6A9-18D2287D87FA}"/>
              </a:ext>
            </a:extLst>
          </p:cNvPr>
          <p:cNvSpPr/>
          <p:nvPr/>
        </p:nvSpPr>
        <p:spPr>
          <a:xfrm>
            <a:off x="431762" y="1873287"/>
            <a:ext cx="5994437" cy="297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4.1.3 County code(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국가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en-US" altLang="ko-KR" sz="1500" b="1" dirty="0">
              <a:solidFill>
                <a:srgbClr val="000000"/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E237BA-965F-4682-93FB-23B38982E3D9}"/>
              </a:ext>
            </a:extLst>
          </p:cNvPr>
          <p:cNvSpPr/>
          <p:nvPr/>
        </p:nvSpPr>
        <p:spPr>
          <a:xfrm>
            <a:off x="695203" y="5374518"/>
            <a:ext cx="2674560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 0(closed)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7EF8083-BDCD-4538-A305-B0D1D5B44A9D}"/>
              </a:ext>
            </a:extLst>
          </p:cNvPr>
          <p:cNvSpPr/>
          <p:nvPr/>
        </p:nvSpPr>
        <p:spPr>
          <a:xfrm>
            <a:off x="4009420" y="5374518"/>
            <a:ext cx="2674560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 1(success)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47146AB-3E73-420B-BD93-414242F5486B}"/>
              </a:ext>
            </a:extLst>
          </p:cNvPr>
          <p:cNvSpPr/>
          <p:nvPr/>
        </p:nvSpPr>
        <p:spPr>
          <a:xfrm>
            <a:off x="7551093" y="5374518"/>
            <a:ext cx="2674560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 2(operating)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D64643-689D-4A30-A077-F7537CA89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62" y="2507653"/>
            <a:ext cx="3184908" cy="252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E278743-084B-43F7-B7D8-0AA32A365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226" y="2481248"/>
            <a:ext cx="3096948" cy="252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3C83B7D-EA7B-448E-8540-6048D16EF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002" y="2490001"/>
            <a:ext cx="308585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75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해석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데이터를 통해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(2015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년까지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스타트업 회사가 늘어나는 추세임을 알 수 있고 성공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인수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주식상장</a:t>
            </a:r>
            <a:r>
              <a:rPr lang="en-US" altLang="ko-KR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하려면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업종과 국가선택이 중요</a:t>
            </a:r>
            <a:endParaRPr lang="en-US" altLang="ko-KR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4.2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 론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390BC3C-F9AC-4480-855E-AE39EB6F341D}"/>
              </a:ext>
            </a:extLst>
          </p:cNvPr>
          <p:cNvSpPr/>
          <p:nvPr/>
        </p:nvSpPr>
        <p:spPr>
          <a:xfrm>
            <a:off x="2654076" y="2390032"/>
            <a:ext cx="4824020" cy="4752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지금 창업을 한다면 어떤 업종으로 할 것인가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</a:p>
          <a:p>
            <a:pPr marL="342900" indent="-342900">
              <a:buAutoNum type="arabicParenR"/>
            </a:pP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AutoNum type="arabicParenR"/>
            </a:pP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성공하기 좋은 국가가 있을까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3)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선택한 업종은 어느정도 투자를 받아야 할 것인가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81D78B6-4589-40D9-86BA-DCACC51D58FA}"/>
              </a:ext>
            </a:extLst>
          </p:cNvPr>
          <p:cNvSpPr/>
          <p:nvPr/>
        </p:nvSpPr>
        <p:spPr>
          <a:xfrm>
            <a:off x="3472745" y="2798593"/>
            <a:ext cx="5310403" cy="4752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성공할 확률이 높은 업종이 있음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투자를 많이 하는 국가가 있음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투자 금액은 성공여부를 판단하기엔 어려움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1B7969A-2B9C-4C9A-9E8F-B844C5676F3D}"/>
              </a:ext>
            </a:extLst>
          </p:cNvPr>
          <p:cNvGrpSpPr/>
          <p:nvPr/>
        </p:nvGrpSpPr>
        <p:grpSpPr>
          <a:xfrm>
            <a:off x="975474" y="4904292"/>
            <a:ext cx="1851201" cy="1603140"/>
            <a:chOff x="863074" y="4801141"/>
            <a:chExt cx="1799622" cy="1558473"/>
          </a:xfrm>
        </p:grpSpPr>
        <p:pic>
          <p:nvPicPr>
            <p:cNvPr id="40" name="Picture 10" descr="1">
              <a:extLst>
                <a:ext uri="{FF2B5EF4-FFF2-40B4-BE49-F238E27FC236}">
                  <a16:creationId xmlns:a16="http://schemas.microsoft.com/office/drawing/2014/main" id="{B85E99E6-3E90-44AB-93B0-13815F6252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074" y="4801141"/>
              <a:ext cx="1799622" cy="1558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089BAAF1-6481-4C17-81DA-DF06C977A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0" r="16036" b="22834"/>
            <a:stretch/>
          </p:blipFill>
          <p:spPr>
            <a:xfrm>
              <a:off x="1409592" y="5104227"/>
              <a:ext cx="771279" cy="877141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A4E12CA-3C1F-4A2C-B0DE-625F187EC9CB}"/>
              </a:ext>
            </a:extLst>
          </p:cNvPr>
          <p:cNvGrpSpPr/>
          <p:nvPr/>
        </p:nvGrpSpPr>
        <p:grpSpPr>
          <a:xfrm>
            <a:off x="928492" y="1751984"/>
            <a:ext cx="1850488" cy="1603757"/>
            <a:chOff x="399584" y="2025363"/>
            <a:chExt cx="1384497" cy="1199898"/>
          </a:xfrm>
        </p:grpSpPr>
        <p:pic>
          <p:nvPicPr>
            <p:cNvPr id="43" name="Picture 10" descr="1">
              <a:extLst>
                <a:ext uri="{FF2B5EF4-FFF2-40B4-BE49-F238E27FC236}">
                  <a16:creationId xmlns:a16="http://schemas.microsoft.com/office/drawing/2014/main" id="{121FDD14-1AE4-4A8E-A66F-C7E739819E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84" y="2025363"/>
              <a:ext cx="1384497" cy="1199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B07DC538-7CEC-49EE-B54B-AECBFEA60A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575" r="7217" b="18991"/>
            <a:stretch/>
          </p:blipFill>
          <p:spPr>
            <a:xfrm>
              <a:off x="806949" y="2324099"/>
              <a:ext cx="683476" cy="665411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C80CF4D-DBA9-4E6E-85F9-E6FAB4F6C529}"/>
              </a:ext>
            </a:extLst>
          </p:cNvPr>
          <p:cNvGrpSpPr/>
          <p:nvPr/>
        </p:nvGrpSpPr>
        <p:grpSpPr>
          <a:xfrm>
            <a:off x="975474" y="3317519"/>
            <a:ext cx="1851201" cy="1603140"/>
            <a:chOff x="446567" y="3300360"/>
            <a:chExt cx="1385030" cy="1199436"/>
          </a:xfrm>
        </p:grpSpPr>
        <p:pic>
          <p:nvPicPr>
            <p:cNvPr id="46" name="Picture 10" descr="1">
              <a:extLst>
                <a:ext uri="{FF2B5EF4-FFF2-40B4-BE49-F238E27FC236}">
                  <a16:creationId xmlns:a16="http://schemas.microsoft.com/office/drawing/2014/main" id="{23206621-E5A1-49BA-BCD4-EB96E599F2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567" y="3300360"/>
              <a:ext cx="1385030" cy="1199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802734D1-378C-44D6-897A-AA32E7F9F9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5161" r="13175" b="20826"/>
            <a:stretch/>
          </p:blipFill>
          <p:spPr>
            <a:xfrm>
              <a:off x="842285" y="3537031"/>
              <a:ext cx="686266" cy="7581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723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3644</TotalTime>
  <Words>1235</Words>
  <Application>Microsoft Office PowerPoint</Application>
  <PresentationFormat>사용자 지정</PresentationFormat>
  <Paragraphs>304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sohne</vt:lpstr>
      <vt:lpstr>나눔바른고딕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</dc:creator>
  <cp:lastModifiedBy>Jung</cp:lastModifiedBy>
  <cp:revision>60</cp:revision>
  <dcterms:created xsi:type="dcterms:W3CDTF">2022-04-18T23:32:35Z</dcterms:created>
  <dcterms:modified xsi:type="dcterms:W3CDTF">2022-05-24T06:32:21Z</dcterms:modified>
</cp:coreProperties>
</file>