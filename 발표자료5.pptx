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6"/>
  </p:notesMasterIdLst>
  <p:sldIdLst>
    <p:sldId id="256" r:id="rId2"/>
    <p:sldId id="305" r:id="rId3"/>
    <p:sldId id="356" r:id="rId4"/>
    <p:sldId id="358" r:id="rId5"/>
    <p:sldId id="276" r:id="rId6"/>
    <p:sldId id="367" r:id="rId7"/>
    <p:sldId id="368" r:id="rId8"/>
    <p:sldId id="369" r:id="rId9"/>
    <p:sldId id="370" r:id="rId10"/>
    <p:sldId id="365" r:id="rId11"/>
    <p:sldId id="357" r:id="rId12"/>
    <p:sldId id="364" r:id="rId13"/>
    <p:sldId id="363" r:id="rId14"/>
    <p:sldId id="372" r:id="rId15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4" userDrawn="1">
          <p15:clr>
            <a:srgbClr val="A4A3A4"/>
          </p15:clr>
        </p15:guide>
        <p15:guide id="2" pos="3368" userDrawn="1">
          <p15:clr>
            <a:srgbClr val="A4A3A4"/>
          </p15:clr>
        </p15:guide>
        <p15:guide id="3" orient="horz" pos="1111" userDrawn="1">
          <p15:clr>
            <a:srgbClr val="A4A3A4"/>
          </p15:clr>
        </p15:guide>
        <p15:guide id="4" pos="759" userDrawn="1">
          <p15:clr>
            <a:srgbClr val="A4A3A4"/>
          </p15:clr>
        </p15:guide>
        <p15:guide id="5" orient="horz" pos="608" userDrawn="1">
          <p15:clr>
            <a:srgbClr val="A4A3A4"/>
          </p15:clr>
        </p15:guide>
        <p15:guide id="6" orient="horz" pos="4105" userDrawn="1">
          <p15:clr>
            <a:srgbClr val="A4A3A4"/>
          </p15:clr>
        </p15:guide>
        <p15:guide id="7" pos="6543" userDrawn="1">
          <p15:clr>
            <a:srgbClr val="A4A3A4"/>
          </p15:clr>
        </p15:guide>
        <p15:guide id="8" pos="192" userDrawn="1">
          <p15:clr>
            <a:srgbClr val="A4A3A4"/>
          </p15:clr>
        </p15:guide>
        <p15:guide id="9" pos="40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BAF2"/>
    <a:srgbClr val="0C4DA2"/>
    <a:srgbClr val="94949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464" y="126"/>
      </p:cViewPr>
      <p:guideLst>
        <p:guide orient="horz" pos="2404"/>
        <p:guide pos="3368"/>
        <p:guide orient="horz" pos="1111"/>
        <p:guide pos="759"/>
        <p:guide orient="horz" pos="608"/>
        <p:guide orient="horz" pos="4105"/>
        <p:guide pos="6543"/>
        <p:guide pos="192"/>
        <p:guide pos="40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ABD5FA-6200-486F-8274-959CAC49DCB1}" type="datetimeFigureOut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A1ACB-5294-4251-8CDD-F50F09CC8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744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5D670-237F-476E-B943-CAE0C2B42FFA}" type="datetime1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256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402AA-B95A-4DEA-8A45-AF2730BE53AB}" type="datetime1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439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471C-10ED-4BEB-8E9E-99A7C3AF25C4}" type="datetime1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215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EC56-8A73-4735-9C66-5B903138C1DB}" type="datetime1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079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4A91F-E418-4B0D-A320-ADAD292DE0F2}" type="datetime1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664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0CBE5-E0DC-4437-8B06-2922EB65BFE4}" type="datetime1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733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E2F1B-C617-4A0D-ABDB-46B01390390F}" type="datetime1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300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62F27-BDC4-4345-9C1F-DA94F8C0C915}" type="datetime1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0925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42D8-13F9-48B3-83E7-C07EE09CC78B}" type="datetime1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980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33AF3-7EE0-4F2F-A30B-2C09D0DAF077}" type="datetime1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601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8AC21-9914-4B01-8A0A-147B7BD3F57C}" type="datetime1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89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52DB1-600E-4D50-B8DE-A7AD3F211411}" type="datetime1">
              <a:rPr lang="ko-KR" altLang="en-US" smtClean="0"/>
              <a:t>2022-04-21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89DA2-604D-4154-AAA0-56C1F155DE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45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코드스테이츠 기업, 채용, 투자, 뉴스">
            <a:extLst>
              <a:ext uri="{FF2B5EF4-FFF2-40B4-BE49-F238E27FC236}">
                <a16:creationId xmlns:a16="http://schemas.microsoft.com/office/drawing/2014/main" id="{9AD167E0-C772-4000-871B-D47ACD4824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93" t="37406" r="10107" b="39261"/>
          <a:stretch/>
        </p:blipFill>
        <p:spPr bwMode="auto">
          <a:xfrm>
            <a:off x="8420100" y="6655553"/>
            <a:ext cx="2145598" cy="64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4F7E674-D989-4933-840F-AA87917FFBA4}"/>
              </a:ext>
            </a:extLst>
          </p:cNvPr>
          <p:cNvSpPr/>
          <p:nvPr/>
        </p:nvSpPr>
        <p:spPr>
          <a:xfrm>
            <a:off x="1242488" y="4284687"/>
            <a:ext cx="9144772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2022.04</a:t>
            </a:r>
            <a:endParaRPr lang="ko-KR" altLang="en-US" sz="1500" dirty="0">
              <a:solidFill>
                <a:schemeClr val="tx1">
                  <a:lumMod val="65000"/>
                  <a:lumOff val="3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모서리가 둥근 직사각형 5">
            <a:extLst>
              <a:ext uri="{FF2B5EF4-FFF2-40B4-BE49-F238E27FC236}">
                <a16:creationId xmlns:a16="http://schemas.microsoft.com/office/drawing/2014/main" id="{D6B5BDDC-764E-43B6-A110-4C420E322ECB}"/>
              </a:ext>
            </a:extLst>
          </p:cNvPr>
          <p:cNvSpPr/>
          <p:nvPr/>
        </p:nvSpPr>
        <p:spPr>
          <a:xfrm rot="20617660">
            <a:off x="2036534" y="-1100745"/>
            <a:ext cx="10302738" cy="6676926"/>
          </a:xfrm>
          <a:prstGeom prst="roundRect">
            <a:avLst>
              <a:gd name="adj" fmla="val 6818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모서리가 둥근 직사각형 9">
            <a:extLst>
              <a:ext uri="{FF2B5EF4-FFF2-40B4-BE49-F238E27FC236}">
                <a16:creationId xmlns:a16="http://schemas.microsoft.com/office/drawing/2014/main" id="{F537F128-523D-49E5-A188-1D5553C44BD9}"/>
              </a:ext>
            </a:extLst>
          </p:cNvPr>
          <p:cNvSpPr/>
          <p:nvPr/>
        </p:nvSpPr>
        <p:spPr>
          <a:xfrm rot="359726">
            <a:off x="-3896990" y="3772690"/>
            <a:ext cx="8406108" cy="5447771"/>
          </a:xfrm>
          <a:prstGeom prst="roundRect">
            <a:avLst>
              <a:gd name="adj" fmla="val 6818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FC2FEA-A5FB-42B1-BF5D-056E47A1DA97}"/>
              </a:ext>
            </a:extLst>
          </p:cNvPr>
          <p:cNvSpPr/>
          <p:nvPr/>
        </p:nvSpPr>
        <p:spPr>
          <a:xfrm>
            <a:off x="4895602" y="2727383"/>
            <a:ext cx="547260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30000"/>
              </a:lnSpc>
            </a:pPr>
            <a:r>
              <a:rPr lang="ko-KR" altLang="en-US" sz="28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분석을 통한 게임 설계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8F760E-56C6-43F3-BB1E-B0A4D10486A3}"/>
              </a:ext>
            </a:extLst>
          </p:cNvPr>
          <p:cNvSpPr/>
          <p:nvPr/>
        </p:nvSpPr>
        <p:spPr>
          <a:xfrm>
            <a:off x="7290916" y="3627483"/>
            <a:ext cx="1296144" cy="4929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9DB63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1D9D73-7324-48A0-928A-1E70218502DD}"/>
              </a:ext>
            </a:extLst>
          </p:cNvPr>
          <p:cNvSpPr/>
          <p:nvPr/>
        </p:nvSpPr>
        <p:spPr>
          <a:xfrm>
            <a:off x="4895602" y="3220082"/>
            <a:ext cx="5472608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30000"/>
              </a:lnSpc>
            </a:pPr>
            <a:r>
              <a:rPr lang="en-US" altLang="ko-KR" sz="2800" b="1" dirty="0">
                <a:solidFill>
                  <a:srgbClr val="949494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Project 1</a:t>
            </a:r>
            <a:endParaRPr lang="ko-KR" altLang="en-US" sz="2800" b="1" dirty="0">
              <a:solidFill>
                <a:srgbClr val="949494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4796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2283"/>
            <a:ext cx="10691812" cy="756195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426200" y="1856328"/>
            <a:ext cx="1418928" cy="12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Dataset</a:t>
            </a:r>
            <a:endParaRPr lang="ko-KR" altLang="en-US" sz="15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738362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    차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1818502" y="684143"/>
            <a:ext cx="7846977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Contents</a:t>
            </a:r>
            <a:endParaRPr lang="ko-KR" altLang="en-US" sz="1500" b="1" dirty="0">
              <a:solidFill>
                <a:schemeClr val="bg1">
                  <a:lumMod val="7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9B4C74B-C64E-4F54-A82A-BD707D6597E2}"/>
              </a:ext>
            </a:extLst>
          </p:cNvPr>
          <p:cNvSpPr/>
          <p:nvPr/>
        </p:nvSpPr>
        <p:spPr>
          <a:xfrm>
            <a:off x="6616660" y="2170553"/>
            <a:ext cx="1418928" cy="12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1.1 </a:t>
            </a:r>
            <a:r>
              <a:rPr lang="ko-KR" altLang="en-US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 적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D0DBA80-12B9-4431-AA02-A9B2B10B73C5}"/>
              </a:ext>
            </a:extLst>
          </p:cNvPr>
          <p:cNvSpPr/>
          <p:nvPr/>
        </p:nvSpPr>
        <p:spPr>
          <a:xfrm>
            <a:off x="6616660" y="2481835"/>
            <a:ext cx="1418928" cy="12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1.2 </a:t>
            </a:r>
            <a:r>
              <a:rPr lang="ko-KR" altLang="en-US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처리 과정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78A7A0B-4BEB-4799-8B2D-EE232B61713D}"/>
              </a:ext>
            </a:extLst>
          </p:cNvPr>
          <p:cNvSpPr/>
          <p:nvPr/>
        </p:nvSpPr>
        <p:spPr>
          <a:xfrm>
            <a:off x="6426200" y="2819476"/>
            <a:ext cx="1511851" cy="12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lang="ko-KR" altLang="en-US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지역별 분석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4116F4A-FE58-4BDA-B49A-0E94FD0E80D6}"/>
              </a:ext>
            </a:extLst>
          </p:cNvPr>
          <p:cNvSpPr/>
          <p:nvPr/>
        </p:nvSpPr>
        <p:spPr>
          <a:xfrm>
            <a:off x="6616659" y="3110749"/>
            <a:ext cx="2801699" cy="135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2.1 </a:t>
            </a:r>
            <a:r>
              <a:rPr lang="ko-KR" altLang="en-US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지역별 게임장르 선호도 분석 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8AEA8BC-6E41-4FC2-8C47-8477B2F97E1B}"/>
              </a:ext>
            </a:extLst>
          </p:cNvPr>
          <p:cNvSpPr/>
          <p:nvPr/>
        </p:nvSpPr>
        <p:spPr>
          <a:xfrm>
            <a:off x="6426200" y="3479970"/>
            <a:ext cx="1675716" cy="12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lang="ko-KR" altLang="en-US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분석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D170D49-9B21-41EC-9AB4-4C079142DC42}"/>
              </a:ext>
            </a:extLst>
          </p:cNvPr>
          <p:cNvSpPr/>
          <p:nvPr/>
        </p:nvSpPr>
        <p:spPr>
          <a:xfrm>
            <a:off x="6426200" y="4731885"/>
            <a:ext cx="1675716" cy="12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</a:t>
            </a:r>
            <a:r>
              <a:rPr lang="ko-KR" altLang="en-US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출고량 분석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D1DF9E5-0D1F-4D2F-A50E-0B43845AA34C}"/>
              </a:ext>
            </a:extLst>
          </p:cNvPr>
          <p:cNvSpPr/>
          <p:nvPr/>
        </p:nvSpPr>
        <p:spPr>
          <a:xfrm>
            <a:off x="6419851" y="6032286"/>
            <a:ext cx="1675716" cy="12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</a:t>
            </a:r>
            <a:r>
              <a:rPr lang="ko-KR" altLang="en-US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설계 방향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06BEA4B-B923-46AE-A4FC-F69DE5234CD1}"/>
              </a:ext>
            </a:extLst>
          </p:cNvPr>
          <p:cNvSpPr/>
          <p:nvPr/>
        </p:nvSpPr>
        <p:spPr>
          <a:xfrm>
            <a:off x="6610311" y="6364466"/>
            <a:ext cx="2545270" cy="12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5.1 </a:t>
            </a:r>
            <a:r>
              <a:rPr lang="ko-KR" altLang="en-US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조사 및 분석의 종합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6C76FACC-5564-4585-9813-99AC94F9F116}"/>
              </a:ext>
            </a:extLst>
          </p:cNvPr>
          <p:cNvSpPr/>
          <p:nvPr/>
        </p:nvSpPr>
        <p:spPr>
          <a:xfrm>
            <a:off x="6616660" y="5077377"/>
            <a:ext cx="2545270" cy="12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4.1 </a:t>
            </a:r>
            <a:r>
              <a:rPr lang="ko-KR" altLang="en-US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제작사 출고량 탑</a:t>
            </a:r>
            <a:r>
              <a:rPr lang="en-US" altLang="ko-KR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 </a:t>
            </a:r>
            <a:endParaRPr lang="ko-KR" altLang="en-US" sz="15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9A9A690-DA0E-4011-B958-3A0C144D09C8}"/>
              </a:ext>
            </a:extLst>
          </p:cNvPr>
          <p:cNvSpPr/>
          <p:nvPr/>
        </p:nvSpPr>
        <p:spPr>
          <a:xfrm>
            <a:off x="6616659" y="3789826"/>
            <a:ext cx="2801699" cy="135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3.1 </a:t>
            </a:r>
            <a:r>
              <a:rPr lang="ko-KR" altLang="en-US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그룹화 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C28CA0B-280E-4A37-9061-84C4674D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3B1A8FA-9557-40AC-97EB-74A8B2A73534}"/>
              </a:ext>
            </a:extLst>
          </p:cNvPr>
          <p:cNvSpPr/>
          <p:nvPr/>
        </p:nvSpPr>
        <p:spPr>
          <a:xfrm>
            <a:off x="6616659" y="4065885"/>
            <a:ext cx="2801699" cy="135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3.2 </a:t>
            </a:r>
            <a:r>
              <a:rPr lang="ko-KR" altLang="en-US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</a:t>
            </a:r>
            <a:r>
              <a:rPr lang="ko-KR" altLang="en-US" sz="15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게임트렌드</a:t>
            </a:r>
            <a:r>
              <a:rPr lang="ko-KR" altLang="en-US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36CF3BD-66CF-4E39-9F61-A4225C73F785}"/>
              </a:ext>
            </a:extLst>
          </p:cNvPr>
          <p:cNvSpPr/>
          <p:nvPr/>
        </p:nvSpPr>
        <p:spPr>
          <a:xfrm>
            <a:off x="6616659" y="4369729"/>
            <a:ext cx="2801699" cy="135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3.3 </a:t>
            </a:r>
            <a:r>
              <a:rPr lang="ko-KR" altLang="en-US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게임장르 출고량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01EAB94-2355-4F8B-8C69-C7B1CD36D26A}"/>
              </a:ext>
            </a:extLst>
          </p:cNvPr>
          <p:cNvSpPr/>
          <p:nvPr/>
        </p:nvSpPr>
        <p:spPr>
          <a:xfrm>
            <a:off x="6616660" y="5372228"/>
            <a:ext cx="2545270" cy="12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4.2 </a:t>
            </a:r>
            <a:r>
              <a:rPr lang="ko-KR" altLang="en-US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출고량 탑 </a:t>
            </a:r>
            <a:r>
              <a:rPr lang="en-US" altLang="ko-KR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 </a:t>
            </a:r>
            <a:r>
              <a:rPr lang="ko-KR" altLang="en-US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게임 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A338748-9030-4786-AD75-5FA7D0A3D99D}"/>
              </a:ext>
            </a:extLst>
          </p:cNvPr>
          <p:cNvSpPr/>
          <p:nvPr/>
        </p:nvSpPr>
        <p:spPr>
          <a:xfrm>
            <a:off x="6616660" y="5667079"/>
            <a:ext cx="2545270" cy="12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4.3 Wii Sports</a:t>
            </a:r>
            <a:endParaRPr lang="ko-KR" altLang="en-US" sz="15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0344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58" y="1764160"/>
            <a:ext cx="10690497" cy="461161"/>
          </a:xfrm>
          <a:prstGeom prst="rect">
            <a:avLst/>
          </a:prstGeom>
          <a:solidFill>
            <a:srgbClr val="BACD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659" y="-2050"/>
            <a:ext cx="1231861" cy="973569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563" y="588543"/>
            <a:ext cx="9142290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Dataset</a:t>
            </a:r>
            <a:endParaRPr lang="ko-KR" altLang="en-US" sz="2500" b="1" dirty="0">
              <a:solidFill>
                <a:srgbClr val="0084C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2680" y="472560"/>
            <a:ext cx="5615101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1.1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 적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235544" y="2412057"/>
            <a:ext cx="5335726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1.2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처리 과정</a:t>
            </a:r>
          </a:p>
        </p:txBody>
      </p:sp>
      <p:sp>
        <p:nvSpPr>
          <p:cNvPr id="75" name="Rectangle 52">
            <a:extLst>
              <a:ext uri="{FF2B5EF4-FFF2-40B4-BE49-F238E27FC236}">
                <a16:creationId xmlns:a16="http://schemas.microsoft.com/office/drawing/2014/main" id="{75A32318-8ABF-44F2-95A1-5CBDDFE7F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646" y="1908137"/>
            <a:ext cx="9646207" cy="234044"/>
          </a:xfrm>
          <a:prstGeom prst="roundRect">
            <a:avLst>
              <a:gd name="adj" fmla="val 16667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wrap="square" lIns="35989" tIns="0" rIns="35989" bIns="0">
            <a:spAutoFit/>
          </a:bodyPr>
          <a:lstStyle/>
          <a:p>
            <a:pPr>
              <a:lnSpc>
                <a:spcPts val="1600"/>
              </a:lnSpc>
              <a:spcBef>
                <a:spcPct val="20000"/>
              </a:spcBef>
            </a:pPr>
            <a:r>
              <a:rPr lang="ko-KR" altLang="en-US" sz="15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주어진 데이터셋을 통하여 다음 분기에 어떤 게임을 설계할 것인지 방향 제시</a:t>
            </a:r>
            <a:endParaRPr lang="en-US" altLang="ko-KR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981B59B-2E3D-4292-943B-682393D7D3CF}"/>
              </a:ext>
            </a:extLst>
          </p:cNvPr>
          <p:cNvSpPr/>
          <p:nvPr/>
        </p:nvSpPr>
        <p:spPr>
          <a:xfrm>
            <a:off x="738646" y="2843989"/>
            <a:ext cx="4607260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1.2.1 </a:t>
            </a:r>
            <a:r>
              <a:rPr lang="ko-KR" altLang="en-US" sz="1500" b="1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결측치</a:t>
            </a:r>
            <a:endParaRPr lang="ko-KR" altLang="en-US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Rectangle 52">
            <a:extLst>
              <a:ext uri="{FF2B5EF4-FFF2-40B4-BE49-F238E27FC236}">
                <a16:creationId xmlns:a16="http://schemas.microsoft.com/office/drawing/2014/main" id="{29D5A243-5A57-4FC4-B288-0B98B989F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880" y="3185500"/>
            <a:ext cx="4120778" cy="934724"/>
          </a:xfrm>
          <a:prstGeom prst="roundRect">
            <a:avLst>
              <a:gd name="adj" fmla="val 16667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wrap="square" lIns="35989" tIns="0" rIns="35989" bIns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표기가 빠진 </a:t>
            </a:r>
            <a:r>
              <a:rPr lang="ko-KR" altLang="en-US" sz="12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결측치는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약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400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개로 전체의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2%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정도로 제거해도 크게 영향을 미치지 않을 것으로 판단 → 삭제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Rectangle 52">
            <a:extLst>
              <a:ext uri="{FF2B5EF4-FFF2-40B4-BE49-F238E27FC236}">
                <a16:creationId xmlns:a16="http://schemas.microsoft.com/office/drawing/2014/main" id="{5D0353E4-9A63-4DDA-9A58-AA3788AA3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9424" y="3200540"/>
            <a:ext cx="5005262" cy="587395"/>
          </a:xfrm>
          <a:prstGeom prst="roundRect">
            <a:avLst>
              <a:gd name="adj" fmla="val 16667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wrap="square" lIns="35989" tIns="0" rIns="35989" bIns="0">
            <a:spAutoFit/>
          </a:bodyPr>
          <a:lstStyle/>
          <a:p>
            <a:pPr algn="l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최대값과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상한값의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확연한 차이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따라서 데이터의 표준화를 통해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경계값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너머의 수치는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상한값과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하한값에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맞추어 조정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4F9AA6A-3A33-49B3-80B7-CB45B72F803E}"/>
              </a:ext>
            </a:extLst>
          </p:cNvPr>
          <p:cNvSpPr/>
          <p:nvPr/>
        </p:nvSpPr>
        <p:spPr>
          <a:xfrm>
            <a:off x="5331671" y="2779084"/>
            <a:ext cx="4607260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1.2.3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이상치</a:t>
            </a:r>
          </a:p>
        </p:txBody>
      </p:sp>
      <p:sp>
        <p:nvSpPr>
          <p:cNvPr id="14" name="Rectangle 52">
            <a:extLst>
              <a:ext uri="{FF2B5EF4-FFF2-40B4-BE49-F238E27FC236}">
                <a16:creationId xmlns:a16="http://schemas.microsoft.com/office/drawing/2014/main" id="{2B4D6694-0B78-469F-A204-27C4F226E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398" y="3881440"/>
            <a:ext cx="4120778" cy="280928"/>
          </a:xfrm>
          <a:prstGeom prst="roundRect">
            <a:avLst>
              <a:gd name="adj" fmla="val 16667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wrap="square" lIns="35989" tIns="0" rIns="35989" bIns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출고량은 단위가 맞지 않아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K(1,000)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수정 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Rectangle 52">
            <a:extLst>
              <a:ext uri="{FF2B5EF4-FFF2-40B4-BE49-F238E27FC236}">
                <a16:creationId xmlns:a16="http://schemas.microsoft.com/office/drawing/2014/main" id="{1E13BC54-C0F0-4184-87E9-AD5F54DDD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880" y="4256724"/>
            <a:ext cx="4120778" cy="975586"/>
          </a:xfrm>
          <a:prstGeom prst="roundRect">
            <a:avLst>
              <a:gd name="adj" fmla="val 16667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wrap="square" lIns="35989" tIns="0" rIns="35989" bIns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연도는 한자리 두자리수가 표기된 것이 발견 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→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22 &gt; X &gt;= 0 2000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년대로 예상이 가능함으로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20xx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수정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→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100 &gt; X &gt; 22 1900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년대로 예상이 가능함으로 </a:t>
            </a: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19xx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수정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3867F17-1F3E-4E41-92FB-57291292A8C1}"/>
              </a:ext>
            </a:extLst>
          </p:cNvPr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처리 결과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dataset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shape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(16598, 9)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(16241,10)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으로 변경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1F2916D-15CA-4720-8E5E-6EDD01F81695}"/>
              </a:ext>
            </a:extLst>
          </p:cNvPr>
          <p:cNvSpPr/>
          <p:nvPr/>
        </p:nvSpPr>
        <p:spPr>
          <a:xfrm>
            <a:off x="738646" y="5296106"/>
            <a:ext cx="4607260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1.2.2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항목추가</a:t>
            </a:r>
          </a:p>
        </p:txBody>
      </p:sp>
      <p:sp>
        <p:nvSpPr>
          <p:cNvPr id="21" name="Rectangle 52">
            <a:extLst>
              <a:ext uri="{FF2B5EF4-FFF2-40B4-BE49-F238E27FC236}">
                <a16:creationId xmlns:a16="http://schemas.microsoft.com/office/drawing/2014/main" id="{C3665423-AFBB-48DC-8511-80A0F2C3F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880" y="5654155"/>
            <a:ext cx="4120778" cy="587395"/>
          </a:xfrm>
          <a:prstGeom prst="roundRect">
            <a:avLst>
              <a:gd name="adj" fmla="val 16667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wrap="square" lIns="35989" tIns="0" rIns="35989" bIns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지역별 출고량은 있지만 해당게임의 총 출고량을 알 수 있는 항목이 없어서 추가</a:t>
            </a:r>
            <a:endParaRPr lang="en-US" altLang="ko-KR" sz="12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1BF5D8-8066-4D50-B955-21B2B932A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362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지역별 분석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상관계수를 보면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JP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0.5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지만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큼으로 게임장르 선호도가 양의 선형관계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따라서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게임장르 선호도는  지역의 영향을 거의 받지 않음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1306ED-936E-4BBA-8B1D-3902145881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2.1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지역별 게임장르 선호도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90FA5F9-337B-4355-AA78-1CDAF2B39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4035719"/>
            <a:ext cx="3846519" cy="142038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AE6B15C-AB5A-4289-937B-0589EA0AA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51" y="1920335"/>
            <a:ext cx="6243774" cy="3851373"/>
          </a:xfrm>
          <a:prstGeom prst="rect">
            <a:avLst/>
          </a:prstGeom>
        </p:spPr>
      </p:pic>
      <p:sp>
        <p:nvSpPr>
          <p:cNvPr id="56" name="직사각형 55">
            <a:extLst>
              <a:ext uri="{FF2B5EF4-FFF2-40B4-BE49-F238E27FC236}">
                <a16:creationId xmlns:a16="http://schemas.microsoft.com/office/drawing/2014/main" id="{9C07D555-5FBC-401F-B2C1-6CCB0704136F}"/>
              </a:ext>
            </a:extLst>
          </p:cNvPr>
          <p:cNvSpPr/>
          <p:nvPr/>
        </p:nvSpPr>
        <p:spPr>
          <a:xfrm>
            <a:off x="6530436" y="5746683"/>
            <a:ext cx="3764508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상관계수 분석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4642477-5375-41B6-B02F-B2C7E604E1CD}"/>
              </a:ext>
            </a:extLst>
          </p:cNvPr>
          <p:cNvSpPr/>
          <p:nvPr/>
        </p:nvSpPr>
        <p:spPr>
          <a:xfrm>
            <a:off x="609600" y="5771708"/>
            <a:ext cx="5714999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데이터 스케일 정규화로 진행한 지역별 게임장르 선호도 시각화</a:t>
            </a:r>
          </a:p>
        </p:txBody>
      </p:sp>
      <p:sp>
        <p:nvSpPr>
          <p:cNvPr id="61" name="Rectangle 52">
            <a:extLst>
              <a:ext uri="{FF2B5EF4-FFF2-40B4-BE49-F238E27FC236}">
                <a16:creationId xmlns:a16="http://schemas.microsoft.com/office/drawing/2014/main" id="{3F75710B-8E16-4976-B421-7620FCB1A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6996" y="2405192"/>
            <a:ext cx="4124817" cy="280928"/>
          </a:xfrm>
          <a:prstGeom prst="roundRect">
            <a:avLst>
              <a:gd name="adj" fmla="val 16667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wrap="square" lIns="35989" tIns="0" rIns="35989" bIns="0">
            <a:spAutoFit/>
          </a:bodyPr>
          <a:lstStyle/>
          <a:p>
            <a:pPr algn="l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JP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제외한 나머지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개의 지역에선 게임장르의 선호도 유사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947185E-F9C4-4494-9B8A-B940FF275704}"/>
              </a:ext>
            </a:extLst>
          </p:cNvPr>
          <p:cNvSpPr/>
          <p:nvPr/>
        </p:nvSpPr>
        <p:spPr>
          <a:xfrm>
            <a:off x="6509243" y="1983736"/>
            <a:ext cx="4607260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2.1.1 </a:t>
            </a:r>
            <a:r>
              <a:rPr lang="ko-KR" altLang="en-US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그래프 해석</a:t>
            </a:r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ko-KR" altLang="en-US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4" name="Rectangle 52">
            <a:extLst>
              <a:ext uri="{FF2B5EF4-FFF2-40B4-BE49-F238E27FC236}">
                <a16:creationId xmlns:a16="http://schemas.microsoft.com/office/drawing/2014/main" id="{835FCDA9-8CFA-406F-A6C6-E59865F2F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6996" y="2824550"/>
            <a:ext cx="4124817" cy="280928"/>
          </a:xfrm>
          <a:prstGeom prst="roundRect">
            <a:avLst>
              <a:gd name="adj" fmla="val 16667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wrap="square" lIns="35989" tIns="0" rIns="35989" bIns="0">
            <a:spAutoFit/>
          </a:bodyPr>
          <a:lstStyle/>
          <a:p>
            <a:pPr algn="l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JP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도 다른 지역과 어느정도 유사하지만 유독 </a:t>
            </a:r>
            <a:r>
              <a:rPr lang="en-US" altLang="ko-KR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Rpg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선호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5" name="Rectangle 52">
            <a:extLst>
              <a:ext uri="{FF2B5EF4-FFF2-40B4-BE49-F238E27FC236}">
                <a16:creationId xmlns:a16="http://schemas.microsoft.com/office/drawing/2014/main" id="{69390716-403E-4C6E-B6BD-058AA077D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6996" y="3243028"/>
            <a:ext cx="4124817" cy="280928"/>
          </a:xfrm>
          <a:prstGeom prst="roundRect">
            <a:avLst>
              <a:gd name="adj" fmla="val 16667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wrap="square" lIns="35989" tIns="0" rIns="35989" bIns="0">
            <a:spAutoFit/>
          </a:bodyPr>
          <a:lstStyle/>
          <a:p>
            <a:pPr algn="l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엑션장르는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개지역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모두 인기가 많음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9FABF3-6B0E-4A47-856E-BC6D47A8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5BFB1AB-55F4-4F13-BBC8-8EAA5BBD8B01}"/>
              </a:ext>
            </a:extLst>
          </p:cNvPr>
          <p:cNvSpPr/>
          <p:nvPr/>
        </p:nvSpPr>
        <p:spPr>
          <a:xfrm>
            <a:off x="3392526" y="2761534"/>
            <a:ext cx="1520861" cy="2758308"/>
          </a:xfrm>
          <a:prstGeom prst="ellipse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586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분석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cxnSp>
        <p:nvCxnSpPr>
          <p:cNvPr id="31" name="직선 연결선 30"/>
          <p:cNvCxnSpPr/>
          <p:nvPr/>
        </p:nvCxnSpPr>
        <p:spPr>
          <a:xfrm>
            <a:off x="90426" y="6659552"/>
            <a:ext cx="33836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3642505" y="6659552"/>
            <a:ext cx="33836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7242199" y="6659552"/>
            <a:ext cx="33836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E068DC8-FA03-4EE6-AEB8-D247EB3C30A3}"/>
              </a:ext>
            </a:extLst>
          </p:cNvPr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데이터의 연도는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1980~2020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년까지 확인가능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단위로 그룹화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하여 진행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9764F29-ED32-45C3-8F33-5862F610FFFA}"/>
              </a:ext>
            </a:extLst>
          </p:cNvPr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5CC5BB5-FD33-4CAE-A0F5-F47175D8E220}"/>
              </a:ext>
            </a:extLst>
          </p:cNvPr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C79CE5B-CA29-4396-895F-F863D44AC2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3.1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그룹화 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03A4EDB-FAC8-4E01-AE4F-8A8AD8FEDA8F}"/>
              </a:ext>
            </a:extLst>
          </p:cNvPr>
          <p:cNvSpPr/>
          <p:nvPr/>
        </p:nvSpPr>
        <p:spPr>
          <a:xfrm>
            <a:off x="321876" y="5634000"/>
            <a:ext cx="2650296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1980~2020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년까지 데이터가 있음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2D0C390D-EECD-43F6-9C1C-EA3CA48F2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1777307"/>
            <a:ext cx="2667372" cy="3839111"/>
          </a:xfrm>
          <a:prstGeom prst="rect">
            <a:avLst/>
          </a:prstGeom>
        </p:spPr>
      </p:pic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70232361-E146-4FE4-8868-7ACD3B344E15}"/>
              </a:ext>
            </a:extLst>
          </p:cNvPr>
          <p:cNvSpPr/>
          <p:nvPr/>
        </p:nvSpPr>
        <p:spPr>
          <a:xfrm>
            <a:off x="3793525" y="3406986"/>
            <a:ext cx="1885694" cy="833008"/>
          </a:xfrm>
          <a:prstGeom prst="rightArrow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그룹화</a:t>
            </a:r>
          </a:p>
        </p:txBody>
      </p:sp>
      <p:pic>
        <p:nvPicPr>
          <p:cNvPr id="59" name="Picture 10" descr="1">
            <a:extLst>
              <a:ext uri="{FF2B5EF4-FFF2-40B4-BE49-F238E27FC236}">
                <a16:creationId xmlns:a16="http://schemas.microsoft.com/office/drawing/2014/main" id="{0002F9D8-D583-402C-8C8D-69933963E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8654" y="1847913"/>
            <a:ext cx="1798929" cy="1559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Picture 10" descr="1">
            <a:extLst>
              <a:ext uri="{FF2B5EF4-FFF2-40B4-BE49-F238E27FC236}">
                <a16:creationId xmlns:a16="http://schemas.microsoft.com/office/drawing/2014/main" id="{97BD7FD0-16A3-457D-9075-BBE6F0C26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485" y="3901395"/>
            <a:ext cx="1799622" cy="1558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" name="Picture 10" descr="1">
            <a:extLst>
              <a:ext uri="{FF2B5EF4-FFF2-40B4-BE49-F238E27FC236}">
                <a16:creationId xmlns:a16="http://schemas.microsoft.com/office/drawing/2014/main" id="{541A4E8E-7623-4986-9CC7-E921A2F18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3676" y="2535045"/>
            <a:ext cx="1799622" cy="1558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" name="Picture 16" descr="2">
            <a:extLst>
              <a:ext uri="{FF2B5EF4-FFF2-40B4-BE49-F238E27FC236}">
                <a16:creationId xmlns:a16="http://schemas.microsoft.com/office/drawing/2014/main" id="{56559CAF-9600-4BBB-8182-8ECAEFC44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583" y="4438695"/>
            <a:ext cx="1814513" cy="159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9DC80F4-5310-47C7-BEEA-1555E4293374}"/>
              </a:ext>
            </a:extLst>
          </p:cNvPr>
          <p:cNvSpPr txBox="1"/>
          <p:nvPr/>
        </p:nvSpPr>
        <p:spPr>
          <a:xfrm>
            <a:off x="6356548" y="2396170"/>
            <a:ext cx="12350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Group A</a:t>
            </a:r>
          </a:p>
          <a:p>
            <a:pPr algn="ctr"/>
            <a:r>
              <a:rPr lang="en-US" altLang="ko-KR" sz="15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1980~1989</a:t>
            </a:r>
            <a:endParaRPr lang="ko-KR" alt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4BE852B-7807-44C0-B168-137847B04EFF}"/>
              </a:ext>
            </a:extLst>
          </p:cNvPr>
          <p:cNvSpPr txBox="1"/>
          <p:nvPr/>
        </p:nvSpPr>
        <p:spPr>
          <a:xfrm>
            <a:off x="8195984" y="3095033"/>
            <a:ext cx="12350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Group B</a:t>
            </a:r>
          </a:p>
          <a:p>
            <a:pPr algn="ctr"/>
            <a:r>
              <a:rPr lang="en-US" altLang="ko-KR" sz="15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1990~1999</a:t>
            </a:r>
            <a:endParaRPr lang="ko-KR" alt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CF67A90-A8BA-4C67-98B4-8815D7417BE0}"/>
              </a:ext>
            </a:extLst>
          </p:cNvPr>
          <p:cNvSpPr txBox="1"/>
          <p:nvPr/>
        </p:nvSpPr>
        <p:spPr>
          <a:xfrm>
            <a:off x="6056465" y="4463127"/>
            <a:ext cx="12350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Group C</a:t>
            </a:r>
          </a:p>
          <a:p>
            <a:pPr algn="ctr"/>
            <a:r>
              <a:rPr lang="en-US" altLang="ko-KR" sz="15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2000~2009</a:t>
            </a:r>
            <a:endParaRPr lang="ko-KR" alt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E3E2A0-2C27-45DE-B4F7-7D6B642C72D7}"/>
              </a:ext>
            </a:extLst>
          </p:cNvPr>
          <p:cNvSpPr txBox="1"/>
          <p:nvPr/>
        </p:nvSpPr>
        <p:spPr>
          <a:xfrm>
            <a:off x="8167409" y="5011291"/>
            <a:ext cx="12350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Group D</a:t>
            </a:r>
          </a:p>
          <a:p>
            <a:pPr algn="ctr"/>
            <a:r>
              <a:rPr lang="en-US" altLang="ko-KR" sz="15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2010~2020</a:t>
            </a:r>
            <a:endParaRPr lang="ko-KR" alt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5E367D-164E-46F4-8ED8-F3A269D04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04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분석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cxnSp>
        <p:nvCxnSpPr>
          <p:cNvPr id="31" name="직선 연결선 30"/>
          <p:cNvCxnSpPr/>
          <p:nvPr/>
        </p:nvCxnSpPr>
        <p:spPr>
          <a:xfrm>
            <a:off x="90426" y="6659552"/>
            <a:ext cx="33836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3642505" y="6659552"/>
            <a:ext cx="33836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7242199" y="6659552"/>
            <a:ext cx="33836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E068DC8-FA03-4EE6-AEB8-D247EB3C30A3}"/>
              </a:ext>
            </a:extLst>
          </p:cNvPr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플랫폼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퍼즐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슈팅게임 순으로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33%, 17%, 16%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비중을 차지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1980~1989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년에는 플랫폼 장르가 트렌드</a:t>
            </a:r>
            <a:endParaRPr lang="en-US" altLang="ko-KR" sz="1200" dirty="0"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9764F29-ED32-45C3-8F33-5862F610FFFA}"/>
              </a:ext>
            </a:extLst>
          </p:cNvPr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5CC5BB5-FD33-4CAE-A0F5-F47175D8E220}"/>
              </a:ext>
            </a:extLst>
          </p:cNvPr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C79CE5B-CA29-4396-895F-F863D44AC2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3.2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그룹화 </a:t>
            </a:r>
            <a:r>
              <a:rPr lang="ko-KR" altLang="en-US" b="1" dirty="0" err="1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게임트렌드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61DE4461-F907-445A-9CC2-1B7089DAD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438" y="1763713"/>
            <a:ext cx="4854117" cy="4702898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799EAFDB-81BB-4B26-B74C-8F3D7D0481E8}"/>
              </a:ext>
            </a:extLst>
          </p:cNvPr>
          <p:cNvSpPr/>
          <p:nvPr/>
        </p:nvSpPr>
        <p:spPr>
          <a:xfrm>
            <a:off x="738646" y="1763713"/>
            <a:ext cx="4607260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3.2.1 Group A(1980~1989)</a:t>
            </a:r>
            <a:endParaRPr lang="ko-KR" altLang="en-US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570646B-DEFF-47B8-8088-B0B1155B5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910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0A62252D-059F-48DC-BC49-0957B3C57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612" y="1772828"/>
            <a:ext cx="4515449" cy="472564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분석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cxnSp>
        <p:nvCxnSpPr>
          <p:cNvPr id="31" name="직선 연결선 30"/>
          <p:cNvCxnSpPr/>
          <p:nvPr/>
        </p:nvCxnSpPr>
        <p:spPr>
          <a:xfrm>
            <a:off x="90426" y="6659552"/>
            <a:ext cx="33836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3642505" y="6659552"/>
            <a:ext cx="33836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7242199" y="6659552"/>
            <a:ext cx="33836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E068DC8-FA03-4EE6-AEB8-D247EB3C30A3}"/>
              </a:ext>
            </a:extLst>
          </p:cNvPr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플랫폼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RPG,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레이싱 순으로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16%, 14%, 12%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비중을 차지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1990~1999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년에는 플랫폼 장르가 여전히 트렌드처럼 보이지만 비중이 감소</a:t>
            </a:r>
            <a:endParaRPr lang="en-US" altLang="ko-KR" sz="1200" dirty="0"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9764F29-ED32-45C3-8F33-5862F610FFFA}"/>
              </a:ext>
            </a:extLst>
          </p:cNvPr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5CC5BB5-FD33-4CAE-A0F5-F47175D8E220}"/>
              </a:ext>
            </a:extLst>
          </p:cNvPr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C79CE5B-CA29-4396-895F-F863D44AC2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3.2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그룹화 </a:t>
            </a:r>
            <a:r>
              <a:rPr lang="ko-KR" altLang="en-US" b="1" dirty="0" err="1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게임트렌드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99EAFDB-81BB-4B26-B74C-8F3D7D0481E8}"/>
              </a:ext>
            </a:extLst>
          </p:cNvPr>
          <p:cNvSpPr/>
          <p:nvPr/>
        </p:nvSpPr>
        <p:spPr>
          <a:xfrm>
            <a:off x="738646" y="1763713"/>
            <a:ext cx="4607260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3.2.2 Group B(1990~1999)</a:t>
            </a:r>
            <a:endParaRPr lang="ko-KR" altLang="en-US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C086179-7F1C-40C6-98FE-3A3858DCD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050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57A64C46-E86C-4FA6-B834-123A44F2D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424" y="1687664"/>
            <a:ext cx="4848448" cy="4810804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분석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cxnSp>
        <p:nvCxnSpPr>
          <p:cNvPr id="31" name="직선 연결선 30"/>
          <p:cNvCxnSpPr/>
          <p:nvPr/>
        </p:nvCxnSpPr>
        <p:spPr>
          <a:xfrm>
            <a:off x="90426" y="6659552"/>
            <a:ext cx="33836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3642505" y="6659552"/>
            <a:ext cx="33836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7242199" y="6659552"/>
            <a:ext cx="33836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E068DC8-FA03-4EE6-AEB8-D247EB3C30A3}"/>
              </a:ext>
            </a:extLst>
          </p:cNvPr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액션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스포츠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en-US" altLang="ko-KR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Misc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순으로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18%, 17%, 10%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비중을 차지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2000~2009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년에는 액션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스포츠가 트렌드로 판단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9764F29-ED32-45C3-8F33-5862F610FFFA}"/>
              </a:ext>
            </a:extLst>
          </p:cNvPr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5CC5BB5-FD33-4CAE-A0F5-F47175D8E220}"/>
              </a:ext>
            </a:extLst>
          </p:cNvPr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C79CE5B-CA29-4396-895F-F863D44AC2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3.2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그룹화 </a:t>
            </a:r>
            <a:r>
              <a:rPr lang="ko-KR" altLang="en-US" b="1" dirty="0" err="1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게임트렌드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99EAFDB-81BB-4B26-B74C-8F3D7D0481E8}"/>
              </a:ext>
            </a:extLst>
          </p:cNvPr>
          <p:cNvSpPr/>
          <p:nvPr/>
        </p:nvSpPr>
        <p:spPr>
          <a:xfrm>
            <a:off x="738646" y="1763713"/>
            <a:ext cx="4607260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3.2.3 Group C(2000~2009)</a:t>
            </a:r>
            <a:endParaRPr lang="ko-KR" altLang="en-US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B1E52A1-5396-441B-A153-81989554E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459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CE730F85-FC49-4A02-BEC9-A96E4E20A3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54" b="1968"/>
          <a:stretch/>
        </p:blipFill>
        <p:spPr>
          <a:xfrm>
            <a:off x="2621088" y="1763712"/>
            <a:ext cx="5629810" cy="475185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분석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cxnSp>
        <p:nvCxnSpPr>
          <p:cNvPr id="31" name="직선 연결선 30"/>
          <p:cNvCxnSpPr/>
          <p:nvPr/>
        </p:nvCxnSpPr>
        <p:spPr>
          <a:xfrm>
            <a:off x="90426" y="6659552"/>
            <a:ext cx="33836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3642505" y="6659552"/>
            <a:ext cx="33836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7242199" y="6659552"/>
            <a:ext cx="33836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E068DC8-FA03-4EE6-AEB8-D247EB3C30A3}"/>
              </a:ext>
            </a:extLst>
          </p:cNvPr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액션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슈팅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스포츠 순으로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27%, 19%, 13%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비중을 차지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2010~2020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년에는 액션 장르가 전보다 더 인기가 증가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9764F29-ED32-45C3-8F33-5862F610FFFA}"/>
              </a:ext>
            </a:extLst>
          </p:cNvPr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5CC5BB5-FD33-4CAE-A0F5-F47175D8E220}"/>
              </a:ext>
            </a:extLst>
          </p:cNvPr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C79CE5B-CA29-4396-895F-F863D44AC2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3.2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그룹화 </a:t>
            </a:r>
            <a:r>
              <a:rPr lang="ko-KR" altLang="en-US" b="1" dirty="0" err="1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게임트렌드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99EAFDB-81BB-4B26-B74C-8F3D7D0481E8}"/>
              </a:ext>
            </a:extLst>
          </p:cNvPr>
          <p:cNvSpPr/>
          <p:nvPr/>
        </p:nvSpPr>
        <p:spPr>
          <a:xfrm>
            <a:off x="738646" y="1763713"/>
            <a:ext cx="4607260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3.2.4 Group D(2010~2020)</a:t>
            </a:r>
            <a:endParaRPr lang="ko-KR" altLang="en-US" sz="15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3DFF5CB-765D-48F2-9FDD-93012403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001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51D94297-29ED-4004-A5EF-C896652AF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72" y="1791794"/>
            <a:ext cx="9916999" cy="398446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b="1" dirty="0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분석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cxnSp>
        <p:nvCxnSpPr>
          <p:cNvPr id="31" name="직선 연결선 30"/>
          <p:cNvCxnSpPr/>
          <p:nvPr/>
        </p:nvCxnSpPr>
        <p:spPr>
          <a:xfrm>
            <a:off x="90426" y="6659552"/>
            <a:ext cx="33836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3642505" y="6659552"/>
            <a:ext cx="33836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7242199" y="6659552"/>
            <a:ext cx="33836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E068DC8-FA03-4EE6-AEB8-D247EB3C30A3}"/>
              </a:ext>
            </a:extLst>
          </p:cNvPr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1996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년부터 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2003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년까진 스포츠장르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트렌드로 보여지며 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2003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이후 액션장르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트렌드</a:t>
            </a:r>
            <a:endParaRPr lang="en-US" altLang="ko-KR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하지만 약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2010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이후 출고량이 하락 ▶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데이터가 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2017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년부터 너무 적어서 무시해도 될 것으로 보임</a:t>
            </a:r>
            <a:endParaRPr lang="en-US" altLang="ko-KR" sz="1200" dirty="0"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9764F29-ED32-45C3-8F33-5862F610FFFA}"/>
              </a:ext>
            </a:extLst>
          </p:cNvPr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5CC5BB5-FD33-4CAE-A0F5-F47175D8E220}"/>
              </a:ext>
            </a:extLst>
          </p:cNvPr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C79CE5B-CA29-4396-895F-F863D44AC2F4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3.3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연도별 게임장르 출고량 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41332BC-DE62-4D03-8C35-9C23250EB2B6}"/>
              </a:ext>
            </a:extLst>
          </p:cNvPr>
          <p:cNvCxnSpPr>
            <a:cxnSpLocks/>
          </p:cNvCxnSpPr>
          <p:nvPr/>
        </p:nvCxnSpPr>
        <p:spPr>
          <a:xfrm>
            <a:off x="4511040" y="1791794"/>
            <a:ext cx="0" cy="3760594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7D7131A-042C-4BE0-9367-6FB30732EE58}"/>
              </a:ext>
            </a:extLst>
          </p:cNvPr>
          <p:cNvCxnSpPr>
            <a:cxnSpLocks/>
          </p:cNvCxnSpPr>
          <p:nvPr/>
        </p:nvCxnSpPr>
        <p:spPr>
          <a:xfrm>
            <a:off x="5974080" y="1791794"/>
            <a:ext cx="0" cy="3760594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03A4EDB-FAC8-4E01-AE4F-8A8AD8FEDA8F}"/>
              </a:ext>
            </a:extLst>
          </p:cNvPr>
          <p:cNvSpPr/>
          <p:nvPr/>
        </p:nvSpPr>
        <p:spPr>
          <a:xfrm>
            <a:off x="609600" y="5771708"/>
            <a:ext cx="9622971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데이터 스케일 정규화로 진행한 연도별 게임 출고량 시각화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DC3A596-93FD-4150-BDAD-6EB3238C654A}"/>
              </a:ext>
            </a:extLst>
          </p:cNvPr>
          <p:cNvCxnSpPr>
            <a:cxnSpLocks/>
          </p:cNvCxnSpPr>
          <p:nvPr/>
        </p:nvCxnSpPr>
        <p:spPr>
          <a:xfrm>
            <a:off x="8888730" y="1791794"/>
            <a:ext cx="0" cy="3760594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A514D-3E94-489A-BFCF-E7FB374F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10</a:t>
            </a:fld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030041B-E332-40FF-915C-998F255D46EF}"/>
              </a:ext>
            </a:extLst>
          </p:cNvPr>
          <p:cNvCxnSpPr>
            <a:cxnSpLocks/>
          </p:cNvCxnSpPr>
          <p:nvPr/>
        </p:nvCxnSpPr>
        <p:spPr>
          <a:xfrm>
            <a:off x="4511040" y="3492500"/>
            <a:ext cx="1463040" cy="0"/>
          </a:xfrm>
          <a:prstGeom prst="line">
            <a:avLst/>
          </a:prstGeom>
          <a:ln w="19050">
            <a:solidFill>
              <a:srgbClr val="FF0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0AEBF4E-671A-4F20-B26D-D64C77A89890}"/>
              </a:ext>
            </a:extLst>
          </p:cNvPr>
          <p:cNvCxnSpPr>
            <a:cxnSpLocks/>
          </p:cNvCxnSpPr>
          <p:nvPr/>
        </p:nvCxnSpPr>
        <p:spPr>
          <a:xfrm>
            <a:off x="5974080" y="3492500"/>
            <a:ext cx="2914650" cy="0"/>
          </a:xfrm>
          <a:prstGeom prst="line">
            <a:avLst/>
          </a:prstGeom>
          <a:ln w="19050">
            <a:solidFill>
              <a:srgbClr val="FF0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491F739-A05C-4396-ADD1-7CDCD159A3C0}"/>
              </a:ext>
            </a:extLst>
          </p:cNvPr>
          <p:cNvSpPr txBox="1"/>
          <p:nvPr/>
        </p:nvSpPr>
        <p:spPr>
          <a:xfrm>
            <a:off x="5105400" y="308610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642FCC-8059-4243-812C-18C28D623921}"/>
              </a:ext>
            </a:extLst>
          </p:cNvPr>
          <p:cNvSpPr txBox="1"/>
          <p:nvPr/>
        </p:nvSpPr>
        <p:spPr>
          <a:xfrm>
            <a:off x="7278262" y="30861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9651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b="1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출고량 분석</a:t>
            </a:r>
            <a:endParaRPr lang="ko-KR" altLang="en-US" sz="2500" b="1" dirty="0">
              <a:solidFill>
                <a:srgbClr val="0084C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5044FF1-756A-46FB-A33B-9684E84C21E1}"/>
              </a:ext>
            </a:extLst>
          </p:cNvPr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총 출고량은 닌텐도가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등보다 약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1.5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 많고 이후 일렉트로닉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아츠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엑티비젼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등등 순서대로 있다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E2158A4-CCD6-4BFE-BAEA-5C6595C9DCEB}"/>
              </a:ext>
            </a:extLst>
          </p:cNvPr>
          <p:cNvSpPr/>
          <p:nvPr/>
        </p:nvSpPr>
        <p:spPr>
          <a:xfrm>
            <a:off x="234728" y="1332231"/>
            <a:ext cx="487613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4.1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제작사 출고량 탑</a:t>
            </a:r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 </a:t>
            </a:r>
            <a:endParaRPr lang="ko-KR" altLang="en-US" b="1" dirty="0">
              <a:solidFill>
                <a:srgbClr val="0C4DA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08C27D6-7DDB-4D81-BB56-A2701308D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91" y="1764160"/>
            <a:ext cx="10125868" cy="4192139"/>
          </a:xfrm>
          <a:prstGeom prst="rect">
            <a:avLst/>
          </a:prstGeom>
        </p:spPr>
      </p:pic>
      <p:sp>
        <p:nvSpPr>
          <p:cNvPr id="60" name="직사각형 59">
            <a:extLst>
              <a:ext uri="{FF2B5EF4-FFF2-40B4-BE49-F238E27FC236}">
                <a16:creationId xmlns:a16="http://schemas.microsoft.com/office/drawing/2014/main" id="{B2C449B9-A7B8-4846-A32B-CF314E118440}"/>
              </a:ext>
            </a:extLst>
          </p:cNvPr>
          <p:cNvSpPr/>
          <p:nvPr/>
        </p:nvSpPr>
        <p:spPr>
          <a:xfrm>
            <a:off x="609600" y="5956299"/>
            <a:ext cx="9622971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제작사별 총 출고량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EB35CC-B4D8-4111-9A2A-6A7A6C37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6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EF193C1-76EC-4A72-8DDD-D812FD6B8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1772653"/>
            <a:ext cx="10089886" cy="4543646"/>
          </a:xfrm>
          <a:prstGeom prst="rect">
            <a:avLst/>
          </a:prstGeom>
        </p:spPr>
      </p:pic>
      <p:sp>
        <p:nvSpPr>
          <p:cNvPr id="59" name="직사각형 58"/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b="1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출고량 분석</a:t>
            </a:r>
            <a:endParaRPr lang="ko-KR" altLang="en-US" sz="2500" b="1" dirty="0">
              <a:solidFill>
                <a:srgbClr val="0084C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5044FF1-756A-46FB-A33B-9684E84C21E1}"/>
              </a:ext>
            </a:extLst>
          </p:cNvPr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출고량 탑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게임들을 보면 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인기가 많은 게임들의 </a:t>
            </a:r>
            <a:r>
              <a:rPr lang="ko-KR" altLang="en-US" sz="1200" dirty="0" err="1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후속작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출시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ko-KR" altLang="en-US" sz="1200" dirty="0"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E2158A4-CCD6-4BFE-BAEA-5C6595C9DCEB}"/>
              </a:ext>
            </a:extLst>
          </p:cNvPr>
          <p:cNvSpPr/>
          <p:nvPr/>
        </p:nvSpPr>
        <p:spPr>
          <a:xfrm>
            <a:off x="234728" y="1332231"/>
            <a:ext cx="487613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4.2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출고량 탑 </a:t>
            </a:r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게임 </a:t>
            </a:r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lang="ko-KR" altLang="en-US" b="1" dirty="0">
              <a:solidFill>
                <a:srgbClr val="0C4DA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8A7B40F-0E32-438A-AC24-4C6E7503AA02}"/>
              </a:ext>
            </a:extLst>
          </p:cNvPr>
          <p:cNvSpPr/>
          <p:nvPr/>
        </p:nvSpPr>
        <p:spPr>
          <a:xfrm>
            <a:off x="2529840" y="2019225"/>
            <a:ext cx="693420" cy="17285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7E162BE-59DC-40B7-B453-533FB059ACAB}"/>
              </a:ext>
            </a:extLst>
          </p:cNvPr>
          <p:cNvSpPr/>
          <p:nvPr/>
        </p:nvSpPr>
        <p:spPr>
          <a:xfrm>
            <a:off x="2127250" y="2679625"/>
            <a:ext cx="1096010" cy="17285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770D505-0A05-4623-899B-C938613AB1B1}"/>
              </a:ext>
            </a:extLst>
          </p:cNvPr>
          <p:cNvSpPr/>
          <p:nvPr/>
        </p:nvSpPr>
        <p:spPr>
          <a:xfrm>
            <a:off x="2127250" y="2235125"/>
            <a:ext cx="1096010" cy="172854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DFC724E-9D3B-4E74-8CE1-3EE9B4EE47B0}"/>
              </a:ext>
            </a:extLst>
          </p:cNvPr>
          <p:cNvSpPr/>
          <p:nvPr/>
        </p:nvSpPr>
        <p:spPr>
          <a:xfrm>
            <a:off x="1809750" y="3323217"/>
            <a:ext cx="1413510" cy="172854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58B3F2B5-72CA-49E8-A1F1-D5CEE58BA1EF}"/>
              </a:ext>
            </a:extLst>
          </p:cNvPr>
          <p:cNvSpPr/>
          <p:nvPr/>
        </p:nvSpPr>
        <p:spPr>
          <a:xfrm>
            <a:off x="1568450" y="3767717"/>
            <a:ext cx="1654810" cy="172854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E8E66A8-6F43-47FE-9AD2-2FDC6F4073BA}"/>
              </a:ext>
            </a:extLst>
          </p:cNvPr>
          <p:cNvSpPr/>
          <p:nvPr/>
        </p:nvSpPr>
        <p:spPr>
          <a:xfrm>
            <a:off x="1466850" y="2899096"/>
            <a:ext cx="1756410" cy="172854"/>
          </a:xfrm>
          <a:prstGeom prst="round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8D838FC-2102-4278-865B-99915508D6D3}"/>
              </a:ext>
            </a:extLst>
          </p:cNvPr>
          <p:cNvSpPr/>
          <p:nvPr/>
        </p:nvSpPr>
        <p:spPr>
          <a:xfrm>
            <a:off x="1371600" y="4627209"/>
            <a:ext cx="1851660" cy="172854"/>
          </a:xfrm>
          <a:prstGeom prst="round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C0A8C23-3275-421E-87D4-8C8F0AA41076}"/>
              </a:ext>
            </a:extLst>
          </p:cNvPr>
          <p:cNvSpPr/>
          <p:nvPr/>
        </p:nvSpPr>
        <p:spPr>
          <a:xfrm>
            <a:off x="2014538" y="5509024"/>
            <a:ext cx="1208722" cy="172854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94D410A-40A0-4856-891D-0670F1E28411}"/>
              </a:ext>
            </a:extLst>
          </p:cNvPr>
          <p:cNvSpPr/>
          <p:nvPr/>
        </p:nvSpPr>
        <p:spPr>
          <a:xfrm>
            <a:off x="1371600" y="5723336"/>
            <a:ext cx="1851660" cy="172854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2549F4-DD2D-4185-AA35-29FFD727F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624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/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b="1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출고량 분석</a:t>
            </a:r>
            <a:endParaRPr lang="ko-KR" altLang="en-US" sz="2500" b="1" dirty="0">
              <a:solidFill>
                <a:srgbClr val="0084C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5044FF1-756A-46FB-A33B-9684E84C21E1}"/>
              </a:ext>
            </a:extLst>
          </p:cNvPr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Wii Sports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인기가 많았던  게임이지만 트렌드를 따라가지 못하고 연도별 게임 출고량이 전체적으로  감소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E2158A4-CCD6-4BFE-BAEA-5C6595C9DCEB}"/>
              </a:ext>
            </a:extLst>
          </p:cNvPr>
          <p:cNvSpPr/>
          <p:nvPr/>
        </p:nvSpPr>
        <p:spPr>
          <a:xfrm>
            <a:off x="234728" y="1332231"/>
            <a:ext cx="487613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4.3 Wii Sports </a:t>
            </a:r>
            <a:endParaRPr lang="ko-KR" altLang="en-US" b="1" dirty="0">
              <a:solidFill>
                <a:srgbClr val="0C4DA2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73F4AB8-0E0E-422A-B206-5FE7BF06B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83" y="4768704"/>
            <a:ext cx="5686232" cy="887342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82B0A863-2D72-4B0E-B812-43EAF2EEE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1763714"/>
            <a:ext cx="5903817" cy="2372040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143655D1-B1FB-4867-AC22-54FA29234C30}"/>
              </a:ext>
            </a:extLst>
          </p:cNvPr>
          <p:cNvSpPr/>
          <p:nvPr/>
        </p:nvSpPr>
        <p:spPr>
          <a:xfrm>
            <a:off x="522383" y="4272229"/>
            <a:ext cx="5686233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스케일 정규화로 진행한 연도별 게임 출고량 시각화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24B9F14-5AA9-4D5B-B84C-853EC66ACABD}"/>
              </a:ext>
            </a:extLst>
          </p:cNvPr>
          <p:cNvSpPr/>
          <p:nvPr/>
        </p:nvSpPr>
        <p:spPr>
          <a:xfrm>
            <a:off x="522383" y="5656046"/>
            <a:ext cx="5686233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Wii Sports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시리즈 게임들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C61F99A2-1005-4A95-BE5C-42771A299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391" y="1764262"/>
            <a:ext cx="2420222" cy="240143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D90A738A-4E03-4BBC-B555-E5037526ED8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954" b="1968"/>
          <a:stretch/>
        </p:blipFill>
        <p:spPr>
          <a:xfrm>
            <a:off x="6984689" y="4226641"/>
            <a:ext cx="2415924" cy="2039166"/>
          </a:xfrm>
          <a:prstGeom prst="rect">
            <a:avLst/>
          </a:prstGeom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E8567126-2CD4-4432-AAB5-830275E19B3B}"/>
              </a:ext>
            </a:extLst>
          </p:cNvPr>
          <p:cNvSpPr/>
          <p:nvPr/>
        </p:nvSpPr>
        <p:spPr>
          <a:xfrm>
            <a:off x="845820" y="5025214"/>
            <a:ext cx="2072640" cy="3659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017CCF7-380F-497E-B56D-6B57C30746CA}"/>
              </a:ext>
            </a:extLst>
          </p:cNvPr>
          <p:cNvSpPr/>
          <p:nvPr/>
        </p:nvSpPr>
        <p:spPr>
          <a:xfrm>
            <a:off x="7871460" y="2179320"/>
            <a:ext cx="403860" cy="40386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6CB09D0-1F5A-4437-AD1C-E64385680F94}"/>
              </a:ext>
            </a:extLst>
          </p:cNvPr>
          <p:cNvSpPr/>
          <p:nvPr/>
        </p:nvSpPr>
        <p:spPr>
          <a:xfrm>
            <a:off x="845820" y="5426585"/>
            <a:ext cx="2072640" cy="21432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3A86230A-6ECA-41AE-AF99-8A9FDF76225B}"/>
              </a:ext>
            </a:extLst>
          </p:cNvPr>
          <p:cNvSpPr/>
          <p:nvPr/>
        </p:nvSpPr>
        <p:spPr>
          <a:xfrm>
            <a:off x="7406640" y="5006252"/>
            <a:ext cx="403860" cy="403860"/>
          </a:xfrm>
          <a:prstGeom prst="ellipse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730A6A54-AD0E-4662-B7D6-7CFBBE075281}"/>
              </a:ext>
            </a:extLst>
          </p:cNvPr>
          <p:cNvCxnSpPr>
            <a:endCxn id="43" idx="2"/>
          </p:cNvCxnSpPr>
          <p:nvPr/>
        </p:nvCxnSpPr>
        <p:spPr>
          <a:xfrm flipV="1">
            <a:off x="2918460" y="2381250"/>
            <a:ext cx="4953000" cy="2826932"/>
          </a:xfrm>
          <a:prstGeom prst="bentConnector3">
            <a:avLst>
              <a:gd name="adj1" fmla="val 74742"/>
            </a:avLst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9C122FE6-17E2-4834-8539-5815786F377C}"/>
              </a:ext>
            </a:extLst>
          </p:cNvPr>
          <p:cNvCxnSpPr>
            <a:stCxn id="51" idx="3"/>
            <a:endCxn id="56" idx="2"/>
          </p:cNvCxnSpPr>
          <p:nvPr/>
        </p:nvCxnSpPr>
        <p:spPr>
          <a:xfrm flipV="1">
            <a:off x="2918460" y="5208182"/>
            <a:ext cx="4488180" cy="325566"/>
          </a:xfrm>
          <a:prstGeom prst="bentConnector3">
            <a:avLst>
              <a:gd name="adj1" fmla="val 85229"/>
            </a:avLst>
          </a:prstGeom>
          <a:ln w="1905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6685019-7B77-41C8-A374-66E8A46DEBE8}"/>
              </a:ext>
            </a:extLst>
          </p:cNvPr>
          <p:cNvSpPr/>
          <p:nvPr/>
        </p:nvSpPr>
        <p:spPr>
          <a:xfrm>
            <a:off x="7286920" y="3826902"/>
            <a:ext cx="1753385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2000~2010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트렌드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2D7FD76-7BBD-4CD6-9F11-4885D8BCF1F2}"/>
              </a:ext>
            </a:extLst>
          </p:cNvPr>
          <p:cNvSpPr/>
          <p:nvPr/>
        </p:nvSpPr>
        <p:spPr>
          <a:xfrm>
            <a:off x="7286920" y="6069542"/>
            <a:ext cx="1753385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2010~2020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트렌드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4A0195-911C-4363-937D-6444C99CD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58539D55-ACCC-4DEA-BBDD-9AEA08069EC4}"/>
              </a:ext>
            </a:extLst>
          </p:cNvPr>
          <p:cNvSpPr/>
          <p:nvPr/>
        </p:nvSpPr>
        <p:spPr>
          <a:xfrm>
            <a:off x="4197350" y="2441234"/>
            <a:ext cx="463550" cy="33914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6E45720-2DDB-484A-AB31-3D680FBC59E9}"/>
              </a:ext>
            </a:extLst>
          </p:cNvPr>
          <p:cNvSpPr/>
          <p:nvPr/>
        </p:nvSpPr>
        <p:spPr>
          <a:xfrm>
            <a:off x="4781550" y="3201021"/>
            <a:ext cx="463550" cy="339149"/>
          </a:xfrm>
          <a:prstGeom prst="ellipse">
            <a:avLst/>
          </a:prstGeom>
          <a:noFill/>
          <a:ln w="19050">
            <a:solidFill>
              <a:srgbClr val="20BA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FB372D83-6D22-4A8D-A74A-F78C74BEE4F7}"/>
              </a:ext>
            </a:extLst>
          </p:cNvPr>
          <p:cNvCxnSpPr>
            <a:cxnSpLocks/>
            <a:stCxn id="26" idx="2"/>
            <a:endCxn id="42" idx="3"/>
          </p:cNvCxnSpPr>
          <p:nvPr/>
        </p:nvCxnSpPr>
        <p:spPr>
          <a:xfrm rot="10800000" flipV="1">
            <a:off x="2918460" y="2610808"/>
            <a:ext cx="1278890" cy="2597373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39E88558-A791-412E-ACF0-A2C7DAED1C63}"/>
              </a:ext>
            </a:extLst>
          </p:cNvPr>
          <p:cNvCxnSpPr>
            <a:stCxn id="29" idx="2"/>
            <a:endCxn id="51" idx="3"/>
          </p:cNvCxnSpPr>
          <p:nvPr/>
        </p:nvCxnSpPr>
        <p:spPr>
          <a:xfrm rot="10800000" flipV="1">
            <a:off x="2918460" y="3370596"/>
            <a:ext cx="1863090" cy="2163152"/>
          </a:xfrm>
          <a:prstGeom prst="bentConnector3">
            <a:avLst/>
          </a:prstGeom>
          <a:ln w="19050">
            <a:solidFill>
              <a:srgbClr val="20BAF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515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DB6B5B0A-B670-4027-932A-8C8032125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701" y="1763321"/>
            <a:ext cx="5038152" cy="3930316"/>
          </a:xfrm>
          <a:prstGeom prst="rect">
            <a:avLst/>
          </a:prstGeom>
        </p:spPr>
      </p:pic>
      <p:sp>
        <p:nvSpPr>
          <p:cNvPr id="59" name="직사각형 58"/>
          <p:cNvSpPr/>
          <p:nvPr/>
        </p:nvSpPr>
        <p:spPr>
          <a:xfrm>
            <a:off x="329" y="-2282"/>
            <a:ext cx="1231937" cy="973628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311" y="588345"/>
            <a:ext cx="9142852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500" b="1">
                <a:solidFill>
                  <a:srgbClr val="0084C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설계 방향</a:t>
            </a:r>
            <a:endParaRPr lang="ko-KR" altLang="en-US" sz="2500" b="1" dirty="0">
              <a:solidFill>
                <a:srgbClr val="0084C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2383" y="472356"/>
            <a:ext cx="5615446" cy="431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499" b="1" i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</a:t>
            </a:r>
            <a:endParaRPr lang="ko-KR" altLang="en-US" sz="6499" b="1" i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29" y="43925"/>
            <a:ext cx="184692" cy="36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1" tIns="45710" rIns="91421" bIns="4571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3EF091-FED3-4110-B309-70D47FF48FC1}"/>
              </a:ext>
            </a:extLst>
          </p:cNvPr>
          <p:cNvSpPr/>
          <p:nvPr/>
        </p:nvSpPr>
        <p:spPr>
          <a:xfrm>
            <a:off x="234727" y="1332231"/>
            <a:ext cx="10150125" cy="431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5.1 </a:t>
            </a:r>
            <a:r>
              <a:rPr lang="ko-KR" altLang="en-US" b="1" dirty="0">
                <a:solidFill>
                  <a:srgbClr val="0C4DA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조사 및 분석의 종합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F3FEE42-1237-4046-8EC6-61DC254EC30E}"/>
              </a:ext>
            </a:extLst>
          </p:cNvPr>
          <p:cNvSpPr/>
          <p:nvPr/>
        </p:nvSpPr>
        <p:spPr>
          <a:xfrm>
            <a:off x="1569518" y="2088832"/>
            <a:ext cx="3775593" cy="527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게임장르 선호도는 지역에 영향을 거의 받지 않음</a:t>
            </a:r>
            <a:endParaRPr lang="en-US" altLang="ko-KR" sz="1200" b="1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B881CC9-A4A0-454A-BD57-80409DDF42F6}"/>
              </a:ext>
            </a:extLst>
          </p:cNvPr>
          <p:cNvSpPr/>
          <p:nvPr/>
        </p:nvSpPr>
        <p:spPr>
          <a:xfrm>
            <a:off x="1569518" y="3475050"/>
            <a:ext cx="3775593" cy="712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초창기에는 플랫폼장르가 인기가 많았으나 </a:t>
            </a:r>
            <a:r>
              <a:rPr lang="en-US" altLang="ko-KR" sz="12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2000</a:t>
            </a:r>
            <a:r>
              <a:rPr lang="ko-KR" altLang="en-US" sz="12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이후 액션장르가 인기 상승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A1EC2D8-900D-43EB-AD0D-D383BB9D8A77}"/>
              </a:ext>
            </a:extLst>
          </p:cNvPr>
          <p:cNvSpPr/>
          <p:nvPr/>
        </p:nvSpPr>
        <p:spPr>
          <a:xfrm>
            <a:off x="1566035" y="4706588"/>
            <a:ext cx="3069156" cy="527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출고량이 높은 게임들은 </a:t>
            </a:r>
            <a:r>
              <a:rPr lang="ko-KR" altLang="en-US" sz="1200" b="1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후속작들을</a:t>
            </a:r>
            <a:r>
              <a:rPr lang="ko-KR" altLang="en-US" sz="12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출시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74A7F2F-ECB2-48BA-8C8B-C11E7301361C}"/>
              </a:ext>
            </a:extLst>
          </p:cNvPr>
          <p:cNvSpPr/>
          <p:nvPr/>
        </p:nvSpPr>
        <p:spPr>
          <a:xfrm>
            <a:off x="304799" y="6515567"/>
            <a:ext cx="10089887" cy="5028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따라서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2010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이후 제작사 액션게임 출고량 점유율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 </a:t>
            </a:r>
            <a:r>
              <a:rPr lang="en-US" altLang="ko-KR" sz="1200" dirty="0" err="1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Take_Two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interactive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출고량 탑 </a:t>
            </a:r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16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  게임이었던  </a:t>
            </a:r>
            <a:r>
              <a:rPr lang="en-US" altLang="ko-KR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Grand Theft Auto V </a:t>
            </a:r>
            <a:r>
              <a:rPr lang="ko-KR" altLang="en-US" sz="1200" dirty="0" err="1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후속작을</a:t>
            </a:r>
            <a:r>
              <a:rPr lang="ko-KR" altLang="en-US" sz="1200" dirty="0"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출시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하는 것을 추천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665D1E4-2F69-4BC5-A49B-75D7CC1901A7}"/>
              </a:ext>
            </a:extLst>
          </p:cNvPr>
          <p:cNvGrpSpPr/>
          <p:nvPr/>
        </p:nvGrpSpPr>
        <p:grpSpPr>
          <a:xfrm>
            <a:off x="185021" y="1706507"/>
            <a:ext cx="1384497" cy="1199898"/>
            <a:chOff x="816091" y="1706506"/>
            <a:chExt cx="1798929" cy="1559073"/>
          </a:xfrm>
        </p:grpSpPr>
        <p:pic>
          <p:nvPicPr>
            <p:cNvPr id="18" name="Picture 10" descr="1">
              <a:extLst>
                <a:ext uri="{FF2B5EF4-FFF2-40B4-BE49-F238E27FC236}">
                  <a16:creationId xmlns:a16="http://schemas.microsoft.com/office/drawing/2014/main" id="{DE324797-F688-448F-9809-3A9079730B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091" y="1706506"/>
              <a:ext cx="1798929" cy="1559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520DFC7-4DB3-421F-ADC0-53413D661F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0" r="14606" b="19756"/>
            <a:stretch/>
          </p:blipFill>
          <p:spPr>
            <a:xfrm>
              <a:off x="1369041" y="2076090"/>
              <a:ext cx="774653" cy="877812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0629FB9C-6B2B-46DE-A036-F6CD7CD50642}"/>
              </a:ext>
            </a:extLst>
          </p:cNvPr>
          <p:cNvGrpSpPr/>
          <p:nvPr/>
        </p:nvGrpSpPr>
        <p:grpSpPr>
          <a:xfrm>
            <a:off x="232004" y="2981504"/>
            <a:ext cx="1385030" cy="1199436"/>
            <a:chOff x="863074" y="3215761"/>
            <a:chExt cx="1799622" cy="1558473"/>
          </a:xfrm>
        </p:grpSpPr>
        <p:pic>
          <p:nvPicPr>
            <p:cNvPr id="20" name="Picture 10" descr="1">
              <a:extLst>
                <a:ext uri="{FF2B5EF4-FFF2-40B4-BE49-F238E27FC236}">
                  <a16:creationId xmlns:a16="http://schemas.microsoft.com/office/drawing/2014/main" id="{F0E23A3E-535B-497C-9140-1696164469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074" y="3215761"/>
              <a:ext cx="1799622" cy="1558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57AB4145-9F6D-4CB4-9A70-48D1B748F5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42" r="9042" b="22262"/>
            <a:stretch/>
          </p:blipFill>
          <p:spPr>
            <a:xfrm>
              <a:off x="1369041" y="3599769"/>
              <a:ext cx="811432" cy="770044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953E385C-C4CD-4228-9E91-ADC491BFF80D}"/>
              </a:ext>
            </a:extLst>
          </p:cNvPr>
          <p:cNvGrpSpPr/>
          <p:nvPr/>
        </p:nvGrpSpPr>
        <p:grpSpPr>
          <a:xfrm>
            <a:off x="232004" y="4305448"/>
            <a:ext cx="1385030" cy="1199436"/>
            <a:chOff x="863074" y="4801141"/>
            <a:chExt cx="1799622" cy="1558473"/>
          </a:xfrm>
        </p:grpSpPr>
        <p:pic>
          <p:nvPicPr>
            <p:cNvPr id="19" name="Picture 10" descr="1">
              <a:extLst>
                <a:ext uri="{FF2B5EF4-FFF2-40B4-BE49-F238E27FC236}">
                  <a16:creationId xmlns:a16="http://schemas.microsoft.com/office/drawing/2014/main" id="{F78C8D8B-6452-441D-8F57-D439831588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074" y="4801141"/>
              <a:ext cx="1799622" cy="1558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74939FF9-AE1C-4B52-82DF-F28A185519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10" r="16036" b="22834"/>
            <a:stretch/>
          </p:blipFill>
          <p:spPr>
            <a:xfrm>
              <a:off x="1377245" y="5054875"/>
              <a:ext cx="771279" cy="877141"/>
            </a:xfrm>
            <a:prstGeom prst="rect">
              <a:avLst/>
            </a:prstGeom>
          </p:spPr>
        </p:pic>
      </p:grpSp>
      <p:sp>
        <p:nvSpPr>
          <p:cNvPr id="13" name="타원 12">
            <a:extLst>
              <a:ext uri="{FF2B5EF4-FFF2-40B4-BE49-F238E27FC236}">
                <a16:creationId xmlns:a16="http://schemas.microsoft.com/office/drawing/2014/main" id="{7C7EF997-E182-476E-AA19-7EB03A2D7F8C}"/>
              </a:ext>
            </a:extLst>
          </p:cNvPr>
          <p:cNvSpPr/>
          <p:nvPr/>
        </p:nvSpPr>
        <p:spPr>
          <a:xfrm>
            <a:off x="8309824" y="2879855"/>
            <a:ext cx="476250" cy="47625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7A677F6-910D-4E06-B852-FB8332650FF0}"/>
              </a:ext>
            </a:extLst>
          </p:cNvPr>
          <p:cNvSpPr/>
          <p:nvPr/>
        </p:nvSpPr>
        <p:spPr>
          <a:xfrm>
            <a:off x="6315074" y="5798842"/>
            <a:ext cx="3362749" cy="360000"/>
          </a:xfrm>
          <a:prstGeom prst="rect">
            <a:avLst/>
          </a:prstGeom>
          <a:solidFill>
            <a:srgbClr val="0C4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2010</a:t>
            </a:r>
            <a:r>
              <a:rPr lang="ko-KR" altLang="en-US" sz="12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이후 제작사 액션게임 출고량 점유율</a:t>
            </a: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04493B90-4750-4221-BD55-A9875049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89DA2-604D-4154-AAA0-56C1F155DEAC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8DE4135-1ED4-444F-824D-E5CBB22DADD3}"/>
              </a:ext>
            </a:extLst>
          </p:cNvPr>
          <p:cNvSpPr/>
          <p:nvPr/>
        </p:nvSpPr>
        <p:spPr>
          <a:xfrm>
            <a:off x="304799" y="5733758"/>
            <a:ext cx="5041901" cy="527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2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다음 분기 게임을 설계할 때 액션장르에 출고량이 높았던 </a:t>
            </a:r>
            <a:r>
              <a:rPr lang="ko-KR" altLang="en-US" sz="1200" b="1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후속작을</a:t>
            </a:r>
            <a:r>
              <a:rPr lang="ko-KR" altLang="en-US" sz="12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b="1" dirty="0" err="1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출시하는게</a:t>
            </a:r>
            <a:r>
              <a:rPr lang="ko-KR" altLang="en-US" sz="1200" b="1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안전하면서 출고량도 높을 것으로 예상</a:t>
            </a:r>
          </a:p>
        </p:txBody>
      </p:sp>
    </p:spTree>
    <p:extLst>
      <p:ext uri="{BB962C8B-B14F-4D97-AF65-F5344CB8AC3E}">
        <p14:creationId xmlns:p14="http://schemas.microsoft.com/office/powerpoint/2010/main" val="3810436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1468</TotalTime>
  <Words>677</Words>
  <Application>Microsoft Office PowerPoint</Application>
  <PresentationFormat>사용자 지정</PresentationFormat>
  <Paragraphs>132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나눔바른고딕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Jung</dc:creator>
  <cp:lastModifiedBy>Jung</cp:lastModifiedBy>
  <cp:revision>18</cp:revision>
  <dcterms:created xsi:type="dcterms:W3CDTF">2022-04-18T23:32:35Z</dcterms:created>
  <dcterms:modified xsi:type="dcterms:W3CDTF">2022-04-21T01:11:33Z</dcterms:modified>
</cp:coreProperties>
</file>